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</p:sldMasterIdLst>
  <p:notesMasterIdLst>
    <p:notesMasterId r:id="rId18"/>
  </p:notesMasterIdLst>
  <p:sldIdLst>
    <p:sldId id="2145707603" r:id="rId17"/>
    <p:sldId id="2145707604" r:id="rId24"/>
    <p:sldId id="2145707605" r:id="rId25"/>
    <p:sldId id="2145707606" r:id="rId26"/>
    <p:sldId id="2145707607" r:id="rId27"/>
    <p:sldId id="2145707608" r:id="rId28"/>
    <p:sldId id="2145707609" r:id="rId29"/>
    <p:sldId id="2145707610" r:id="rId30"/>
    <p:sldId id="2145707611" r:id="rId31"/>
    <p:sldId id="2145707612" r:id="rId32"/>
    <p:sldId id="2145707613" r:id="rId33"/>
    <p:sldId id="2145707614" r:id="rId34"/>
    <p:sldId id="2145707615" r:id="rId35"/>
    <p:sldId id="2145707616" r:id="rId36"/>
    <p:sldId id="2145707617" r:id="rId37"/>
    <p:sldId id="2145707618" r:id="rId38"/>
    <p:sldId id="2145707619" r:id="rId39"/>
    <p:sldId id="2145707620" r:id="rId40"/>
    <p:sldId id="2145707621" r:id="rId41"/>
    <p:sldId id="2145707622" r:id="rId42"/>
    <p:sldId id="2145707623" r:id="rId43"/>
    <p:sldId id="2145707624" r:id="rId44"/>
    <p:sldId id="2145707625" r:id="rId45"/>
    <p:sldId id="2145707626" r:id="rId46"/>
    <p:sldId id="2145707627" r:id="rId47"/>
    <p:sldId id="2145707628" r:id="rId48"/>
    <p:sldId id="2145707629" r:id="rId49"/>
  </p:sldIdLst>
  <p:sldSz cx="12192000" cy="6858000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D1E83142-338E-4BF5-9AE7-556F27B191ED}">
          <p14:sldIdLst>
            <p14:sldId id="2145707414"/>
            <p14:sldId id="2145707569"/>
            <p14:sldId id="2145707593"/>
            <p14:sldId id="2145707595"/>
            <p14:sldId id="2145707594"/>
            <p14:sldId id="2145707596"/>
            <p14:sldId id="2145707597"/>
            <p14:sldId id="2145707598"/>
            <p14:sldId id="2145707600"/>
            <p14:sldId id="2145707601"/>
            <p14:sldId id="2145707602"/>
            <p14:sldId id="2145706622"/>
            <p14:sldId id="2145707599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허성현 Sunghyun Huh" initials="허SH" lastIdx="1" clrIdx="0">
    <p:extLst>
      <p:ext uri="{19B8F6BF-5375-455C-9EA6-DF929625EA0E}">
        <p15:presenceInfo xmlns:p15="http://schemas.microsoft.com/office/powerpoint/2012/main" userId="S-1-5-21-2424440216-1131602912-3356852669-10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2937"/>
    <a:srgbClr val="3A444F"/>
    <a:srgbClr val="1B3F6E"/>
    <a:srgbClr val="0094D8"/>
    <a:srgbClr val="36BFFA"/>
    <a:srgbClr val="EAF4FB"/>
    <a:srgbClr val="2970FF"/>
    <a:srgbClr val="D32F2F"/>
    <a:srgbClr val="00C2B8"/>
    <a:srgbClr val="BDE2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951" autoAdjust="0"/>
    <p:restoredTop sz="96076" autoAdjust="0"/>
  </p:normalViewPr>
  <p:slideViewPr>
    <p:cSldViewPr snapToGrid="0">
      <p:cViewPr>
        <p:scale>
          <a:sx n="189" d="100"/>
          <a:sy n="189" d="100"/>
        </p:scale>
        <p:origin x="2464" y="84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7" Type="http://schemas.openxmlformats.org/officeDocument/2006/relationships/slide" Target="slides/slide13.xml"/><Relationship Id="rId18" Type="http://schemas.openxmlformats.org/officeDocument/2006/relationships/notesMaster" Target="notesMasters/notesMaster1.xml"/><Relationship Id="rId19" Type="http://schemas.openxmlformats.org/officeDocument/2006/relationships/commentAuthors" Target="commentAuthors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Relationship Id="rId45" Type="http://schemas.openxmlformats.org/officeDocument/2006/relationships/slide" Target="slides/slide35.xml"/><Relationship Id="rId46" Type="http://schemas.openxmlformats.org/officeDocument/2006/relationships/slide" Target="slides/slide36.xml"/><Relationship Id="rId47" Type="http://schemas.openxmlformats.org/officeDocument/2006/relationships/slide" Target="slides/slide37.xml"/><Relationship Id="rId48" Type="http://schemas.openxmlformats.org/officeDocument/2006/relationships/slide" Target="slides/slide38.xml"/><Relationship Id="rId49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E95837-45D1-4F09-886F-CE6AE9C4FB53}" type="datetimeFigureOut">
              <a:rPr lang="ko-KR" altLang="en-US" smtClean="0"/>
              <a:t>2026. 10. 22.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3CF8F-795B-4F04-A0C6-43AAC3D351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4022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microsoft.com/office/2007/relationships/hdphoto" Target="../media/hdphoto1.wdp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microsoft.com/office/2007/relationships/hdphoto" Target="../media/hdphoto1.wdp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image" Target="../media/image3.svg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5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B30CD2-E014-D862-487D-F3442C1A94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398" y="5478432"/>
            <a:ext cx="9144000" cy="453074"/>
          </a:xfrm>
        </p:spPr>
        <p:txBody>
          <a:bodyPr anchor="t">
            <a:noAutofit/>
          </a:bodyPr>
          <a:lstStyle>
            <a:lvl1pPr algn="l">
              <a:defRPr lang="ko-KR" altLang="en-US" sz="2800" kern="1200" baseline="0" dirty="0">
                <a:ln>
                  <a:solidFill>
                    <a:srgbClr val="156082">
                      <a:alpha val="0"/>
                    </a:srgbClr>
                  </a:solidFill>
                </a:ln>
                <a:solidFill>
                  <a:srgbClr val="0E2841">
                    <a:lumMod val="50000"/>
                    <a:lumOff val="50000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Arial" panose="020B0604020202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pic>
        <p:nvPicPr>
          <p:cNvPr id="11" name="그래픽 19">
            <a:extLst>
              <a:ext uri="{FF2B5EF4-FFF2-40B4-BE49-F238E27FC236}">
                <a16:creationId xmlns:a16="http://schemas.microsoft.com/office/drawing/2014/main" id="{705517C8-90D0-D70D-0C71-2912642434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9596" y="501473"/>
            <a:ext cx="1527946" cy="3617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9A51161-DC2F-6336-9550-9280723923EA}"/>
              </a:ext>
            </a:extLst>
          </p:cNvPr>
          <p:cNvSpPr txBox="1"/>
          <p:nvPr/>
        </p:nvSpPr>
        <p:spPr>
          <a:xfrm>
            <a:off x="389550" y="1065418"/>
            <a:ext cx="7665415" cy="10786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377" rtl="0" eaLnBrk="1" fontAlgn="auto" latin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1" i="1" u="none" strike="noStrike" kern="1200" cap="none" spc="0" normalizeH="0" baseline="0" noProof="0" dirty="0">
                <a:ln>
                  <a:solidFill>
                    <a:srgbClr val="156082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Arial" panose="020B0604020202020204" pitchFamily="34" charset="0"/>
              </a:rPr>
              <a:t>From sample preparation to data processing for proteomics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220EE987-EA8F-34D5-6BFA-6A0ADCB99A68}"/>
              </a:ext>
            </a:extLst>
          </p:cNvPr>
          <p:cNvCxnSpPr>
            <a:cxnSpLocks/>
          </p:cNvCxnSpPr>
          <p:nvPr userDrawn="1"/>
        </p:nvCxnSpPr>
        <p:spPr>
          <a:xfrm>
            <a:off x="219467" y="1092809"/>
            <a:ext cx="0" cy="1956880"/>
          </a:xfrm>
          <a:prstGeom prst="line">
            <a:avLst/>
          </a:prstGeom>
          <a:ln w="63500">
            <a:gradFill flip="none" rotWithShape="1">
              <a:gsLst>
                <a:gs pos="0">
                  <a:srgbClr val="9BCBFF"/>
                </a:gs>
                <a:gs pos="36000">
                  <a:srgbClr val="00B0F0"/>
                </a:gs>
              </a:gsLst>
              <a:path path="circle">
                <a:fillToRect r="100000" b="100000"/>
              </a:path>
              <a:tileRect l="-100000" t="-10000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텍스트 개체 틀 18">
            <a:extLst>
              <a:ext uri="{FF2B5EF4-FFF2-40B4-BE49-F238E27FC236}">
                <a16:creationId xmlns:a16="http://schemas.microsoft.com/office/drawing/2014/main" id="{44D88394-3AD5-DF0F-B5D1-C0555B3539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3285" y="6042312"/>
            <a:ext cx="3576073" cy="193250"/>
          </a:xfrm>
        </p:spPr>
        <p:txBody>
          <a:bodyPr lIns="0" tIns="0" rIns="0" bIns="0">
            <a:normAutofit/>
          </a:bodyPr>
          <a:lstStyle>
            <a:lvl1pPr>
              <a:defRPr lang="ko-KR" altLang="en-US" sz="1400" b="1" kern="1200" spc="-110" baseline="0" dirty="0">
                <a:ln>
                  <a:solidFill>
                    <a:srgbClr val="393950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203200" dist="50800" dir="2700000" sx="101000" sy="101000" algn="tl" rotWithShape="0">
                    <a:srgbClr val="1A2940">
                      <a:alpha val="92000"/>
                    </a:srgbClr>
                  </a:outerShdw>
                </a:effectLst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lvl="0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5258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E33A137-BBA1-3A26-1B14-14FD47651D74}"/>
              </a:ext>
            </a:extLst>
          </p:cNvPr>
          <p:cNvSpPr/>
          <p:nvPr userDrawn="1"/>
        </p:nvSpPr>
        <p:spPr>
          <a:xfrm>
            <a:off x="1" y="958075"/>
            <a:ext cx="12210472" cy="58999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solidFill>
                  <a:srgbClr val="156082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6E7C0C6-5C54-C92F-75E0-67931AE655B7}"/>
              </a:ext>
            </a:extLst>
          </p:cNvPr>
          <p:cNvGrpSpPr/>
          <p:nvPr userDrawn="1"/>
        </p:nvGrpSpPr>
        <p:grpSpPr>
          <a:xfrm>
            <a:off x="0" y="0"/>
            <a:ext cx="12373337" cy="945028"/>
            <a:chOff x="-3283" y="-1"/>
            <a:chExt cx="12367261" cy="944564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E8FFCCCC-5D17-4CDF-3655-7094F1A7B523}"/>
                </a:ext>
              </a:extLst>
            </p:cNvPr>
            <p:cNvGrpSpPr/>
            <p:nvPr userDrawn="1"/>
          </p:nvGrpSpPr>
          <p:grpSpPr>
            <a:xfrm>
              <a:off x="7257594" y="-1"/>
              <a:ext cx="5106384" cy="944563"/>
              <a:chOff x="7630319" y="-5807"/>
              <a:chExt cx="5106384" cy="950370"/>
            </a:xfrm>
          </p:grpSpPr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8AE3DBF5-DBF0-2D26-9057-576B5C4D3B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9979" t="28810" r="-2864" b="44444"/>
              <a:stretch>
                <a:fillRect/>
              </a:stretch>
            </p:blipFill>
            <p:spPr>
              <a:xfrm>
                <a:off x="7630319" y="-5807"/>
                <a:ext cx="4538678" cy="943532"/>
              </a:xfrm>
              <a:prstGeom prst="rect">
                <a:avLst/>
              </a:prstGeom>
            </p:spPr>
          </p:pic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A5F0A09E-768A-6952-457A-FF29049DCF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6343" t="28810" r="-2864" b="44444"/>
              <a:stretch>
                <a:fillRect/>
              </a:stretch>
            </p:blipFill>
            <p:spPr>
              <a:xfrm>
                <a:off x="11478896" y="1031"/>
                <a:ext cx="1257807" cy="943532"/>
              </a:xfrm>
              <a:prstGeom prst="rect">
                <a:avLst/>
              </a:prstGeom>
            </p:spPr>
          </p:pic>
        </p:grp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8CC5158-CC7B-7198-C853-EAA1D9B6B771}"/>
                </a:ext>
              </a:extLst>
            </p:cNvPr>
            <p:cNvSpPr/>
            <p:nvPr userDrawn="1"/>
          </p:nvSpPr>
          <p:spPr>
            <a:xfrm>
              <a:off x="-3283" y="1031"/>
              <a:ext cx="12205606" cy="943532"/>
            </a:xfrm>
            <a:prstGeom prst="rect">
              <a:avLst/>
            </a:prstGeom>
            <a:gradFill flip="none" rotWithShape="1">
              <a:gsLst>
                <a:gs pos="81000">
                  <a:srgbClr val="0B1F3A">
                    <a:alpha val="70000"/>
                  </a:srgbClr>
                </a:gs>
                <a:gs pos="94000">
                  <a:srgbClr val="0B1F3A"/>
                </a:gs>
                <a:gs pos="59000">
                  <a:srgbClr val="0B1F3A"/>
                </a:gs>
                <a:gs pos="63000">
                  <a:srgbClr val="0B1F3A">
                    <a:alpha val="9200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aseline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7CA2BF-4BB2-3ECB-EA6D-21E78F95F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9433" y="6435007"/>
            <a:ext cx="2743200" cy="365125"/>
          </a:xfrm>
        </p:spPr>
        <p:txBody>
          <a:bodyPr/>
          <a:lstStyle>
            <a:lvl1pPr>
              <a:defRPr baseline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fld id="{8829373E-CD8E-4DEB-9966-45D0690BCFEE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E15AC6DC-C2C2-80F4-B4F4-34168FF41FD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93083" y="340528"/>
            <a:ext cx="2438400" cy="210216"/>
          </a:xfrm>
        </p:spPr>
        <p:txBody>
          <a:bodyPr wrap="square" lIns="0" tIns="0" rIns="9144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sz="1400" b="0" i="0" baseline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0" indent="0" algn="l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2pPr>
            <a:lvl3pPr marL="0" indent="0" algn="l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3pPr>
            <a:lvl4pPr marL="0" indent="0" algn="l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4pPr>
            <a:lvl5pPr marL="0" indent="0" algn="l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5pPr>
          </a:lstStyle>
          <a:p>
            <a:pPr lvl="0"/>
            <a:r>
              <a:rPr lang="ko-KR" altLang="en-US"/>
              <a:t>목차</a:t>
            </a:r>
          </a:p>
        </p:txBody>
      </p:sp>
      <p:sp>
        <p:nvSpPr>
          <p:cNvPr id="18" name="텍스트 개체 틀 17">
            <a:extLst>
              <a:ext uri="{FF2B5EF4-FFF2-40B4-BE49-F238E27FC236}">
                <a16:creationId xmlns:a16="http://schemas.microsoft.com/office/drawing/2014/main" id="{BFBBAC63-94F8-1FB8-DB39-9102229416A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3080" y="563791"/>
            <a:ext cx="8832000" cy="273280"/>
          </a:xfrm>
        </p:spPr>
        <p:txBody>
          <a:bodyPr vert="horz" wrap="square" lIns="0" tIns="0" rIns="91440" bIns="0" rtlCol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ko-KR" altLang="en-US" sz="2000" b="1" i="0" spc="-120" baseline="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0" indent="0" algn="l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2pPr>
            <a:lvl3pPr marL="0" indent="0" algn="l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3pPr>
            <a:lvl4pPr marL="0" indent="0" algn="l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4pPr>
            <a:lvl5pPr marL="0" indent="0" algn="l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</a:pPr>
            <a:r>
              <a:rPr lang="ko-KR" altLang="en-US"/>
              <a:t>제목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D4CB6FEF-12C2-CA85-8885-6A573B0303B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29519" y="1250845"/>
            <a:ext cx="9773943" cy="707887"/>
          </a:xfrm>
        </p:spPr>
        <p:txBody>
          <a:bodyPr vert="horz" wrap="square" lIns="91440" tIns="45720" rIns="91440" bIns="45720" rtlCol="0" anchor="t" anchorCtr="0">
            <a:noAutofit/>
          </a:bodyPr>
          <a:lstStyle>
            <a:lvl1pPr marL="0" indent="0" algn="ctr" latinLnBrk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SzPct val="150000"/>
              <a:buFont typeface="Arial" panose="020B0604020202020204" pitchFamily="34" charset="0"/>
              <a:buNone/>
              <a:defRPr lang="en-US" altLang="ko-KR" sz="1800" b="1" i="0" spc="0" baseline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2pPr>
            <a:lvl3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3pPr>
            <a:lvl4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4pPr>
            <a:lvl5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5pPr>
          </a:lstStyle>
          <a:p>
            <a:pPr marL="0" lvl="0" indent="0" latinLnBrk="0">
              <a:spcBef>
                <a:spcPct val="0"/>
              </a:spcBef>
              <a:spcAft>
                <a:spcPts val="0"/>
              </a:spcAft>
              <a:buSzPct val="150000"/>
              <a:buNone/>
            </a:pPr>
            <a:r>
              <a:rPr lang="ko-KR" altLang="en-US"/>
              <a:t>메시지 </a:t>
            </a:r>
            <a:r>
              <a:rPr lang="en-US" altLang="ko-KR"/>
              <a:t>(</a:t>
            </a:r>
            <a:r>
              <a:rPr lang="ko-KR" altLang="en-US"/>
              <a:t>설명 필요시</a:t>
            </a:r>
            <a:r>
              <a:rPr lang="en-US" altLang="ko-KR"/>
              <a:t>)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744254B2-60B8-1B1F-33BC-2282A0520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0877" y="165019"/>
            <a:ext cx="1020763" cy="738664"/>
          </a:xfrm>
        </p:spPr>
        <p:txBody>
          <a:bodyPr wrap="square" lIns="0" tIns="0" rIns="0" bIns="0" anchor="t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sz="4800" b="1" i="0" baseline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lvl="0"/>
            <a:r>
              <a:rPr lang="en-US" altLang="ko-KR"/>
              <a:t>#</a:t>
            </a:r>
            <a:endParaRPr lang="ko-KR" altLang="en-US"/>
          </a:p>
        </p:txBody>
      </p:sp>
      <p:pic>
        <p:nvPicPr>
          <p:cNvPr id="3" name="그래픽 10">
            <a:extLst>
              <a:ext uri="{FF2B5EF4-FFF2-40B4-BE49-F238E27FC236}">
                <a16:creationId xmlns:a16="http://schemas.microsoft.com/office/drawing/2014/main" id="{79B08B49-B094-9CA9-82FD-FB2DDF71E91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53283" y="585614"/>
            <a:ext cx="923023" cy="218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577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E33A137-BBA1-3A26-1B14-14FD47651D74}"/>
              </a:ext>
            </a:extLst>
          </p:cNvPr>
          <p:cNvSpPr/>
          <p:nvPr userDrawn="1"/>
        </p:nvSpPr>
        <p:spPr>
          <a:xfrm>
            <a:off x="1" y="958075"/>
            <a:ext cx="12210472" cy="58999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solidFill>
                  <a:srgbClr val="156082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6E7C0C6-5C54-C92F-75E0-67931AE655B7}"/>
              </a:ext>
            </a:extLst>
          </p:cNvPr>
          <p:cNvGrpSpPr/>
          <p:nvPr userDrawn="1"/>
        </p:nvGrpSpPr>
        <p:grpSpPr>
          <a:xfrm>
            <a:off x="0" y="0"/>
            <a:ext cx="12373337" cy="945028"/>
            <a:chOff x="-3283" y="-1"/>
            <a:chExt cx="12367261" cy="944564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E8FFCCCC-5D17-4CDF-3655-7094F1A7B523}"/>
                </a:ext>
              </a:extLst>
            </p:cNvPr>
            <p:cNvGrpSpPr/>
            <p:nvPr userDrawn="1"/>
          </p:nvGrpSpPr>
          <p:grpSpPr>
            <a:xfrm>
              <a:off x="7257594" y="-1"/>
              <a:ext cx="5106384" cy="944563"/>
              <a:chOff x="7630319" y="-5807"/>
              <a:chExt cx="5106384" cy="950370"/>
            </a:xfrm>
          </p:grpSpPr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8AE3DBF5-DBF0-2D26-9057-576B5C4D3B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9979" t="28810" r="-2864" b="44444"/>
              <a:stretch>
                <a:fillRect/>
              </a:stretch>
            </p:blipFill>
            <p:spPr>
              <a:xfrm>
                <a:off x="7630319" y="-5807"/>
                <a:ext cx="4538678" cy="943532"/>
              </a:xfrm>
              <a:prstGeom prst="rect">
                <a:avLst/>
              </a:prstGeom>
            </p:spPr>
          </p:pic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A5F0A09E-768A-6952-457A-FF29049DCF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6343" t="28810" r="-2864" b="44444"/>
              <a:stretch>
                <a:fillRect/>
              </a:stretch>
            </p:blipFill>
            <p:spPr>
              <a:xfrm>
                <a:off x="11478896" y="1031"/>
                <a:ext cx="1257807" cy="943532"/>
              </a:xfrm>
              <a:prstGeom prst="rect">
                <a:avLst/>
              </a:prstGeom>
            </p:spPr>
          </p:pic>
        </p:grp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8CC5158-CC7B-7198-C853-EAA1D9B6B771}"/>
                </a:ext>
              </a:extLst>
            </p:cNvPr>
            <p:cNvSpPr/>
            <p:nvPr userDrawn="1"/>
          </p:nvSpPr>
          <p:spPr>
            <a:xfrm>
              <a:off x="-3283" y="1031"/>
              <a:ext cx="12205606" cy="943532"/>
            </a:xfrm>
            <a:prstGeom prst="rect">
              <a:avLst/>
            </a:prstGeom>
            <a:gradFill flip="none" rotWithShape="1">
              <a:gsLst>
                <a:gs pos="81000">
                  <a:srgbClr val="0B1F3A">
                    <a:alpha val="70000"/>
                  </a:srgbClr>
                </a:gs>
                <a:gs pos="94000">
                  <a:srgbClr val="0B1F3A"/>
                </a:gs>
                <a:gs pos="59000">
                  <a:srgbClr val="0B1F3A"/>
                </a:gs>
                <a:gs pos="63000">
                  <a:srgbClr val="0B1F3A">
                    <a:alpha val="9200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aseline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7CA2BF-4BB2-3ECB-EA6D-21E78F95F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9433" y="6435007"/>
            <a:ext cx="2743200" cy="365125"/>
          </a:xfrm>
        </p:spPr>
        <p:txBody>
          <a:bodyPr/>
          <a:lstStyle>
            <a:lvl1pPr>
              <a:defRPr baseline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fld id="{8829373E-CD8E-4DEB-9966-45D0690BCFEE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E15AC6DC-C2C2-80F4-B4F4-34168FF41FD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93083" y="340528"/>
            <a:ext cx="2438400" cy="210216"/>
          </a:xfrm>
        </p:spPr>
        <p:txBody>
          <a:bodyPr wrap="square" lIns="0" tIns="0" rIns="9144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sz="1400" b="0" i="0" baseline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0" indent="0" algn="l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2pPr>
            <a:lvl3pPr marL="0" indent="0" algn="l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3pPr>
            <a:lvl4pPr marL="0" indent="0" algn="l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4pPr>
            <a:lvl5pPr marL="0" indent="0" algn="l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5pPr>
          </a:lstStyle>
          <a:p>
            <a:pPr lvl="0"/>
            <a:r>
              <a:rPr lang="ko-KR" altLang="en-US"/>
              <a:t>목차</a:t>
            </a:r>
          </a:p>
        </p:txBody>
      </p:sp>
      <p:sp>
        <p:nvSpPr>
          <p:cNvPr id="18" name="텍스트 개체 틀 17">
            <a:extLst>
              <a:ext uri="{FF2B5EF4-FFF2-40B4-BE49-F238E27FC236}">
                <a16:creationId xmlns:a16="http://schemas.microsoft.com/office/drawing/2014/main" id="{BFBBAC63-94F8-1FB8-DB39-9102229416A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3080" y="563791"/>
            <a:ext cx="8832000" cy="273280"/>
          </a:xfrm>
        </p:spPr>
        <p:txBody>
          <a:bodyPr vert="horz" wrap="square" lIns="0" tIns="0" rIns="91440" bIns="0" rtlCol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ko-KR" altLang="en-US" sz="2000" b="1" i="0" spc="-120" baseline="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0" indent="0" algn="l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2pPr>
            <a:lvl3pPr marL="0" indent="0" algn="l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3pPr>
            <a:lvl4pPr marL="0" indent="0" algn="l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4pPr>
            <a:lvl5pPr marL="0" indent="0" algn="l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b="0" i="0">
                <a:solidFill>
                  <a:srgbClr val="000000"/>
                </a:solidFill>
                <a:latin typeface="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</a:pPr>
            <a:r>
              <a:rPr lang="ko-KR" altLang="en-US"/>
              <a:t>제목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744254B2-60B8-1B1F-33BC-2282A0520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0877" y="165019"/>
            <a:ext cx="1020763" cy="738664"/>
          </a:xfrm>
        </p:spPr>
        <p:txBody>
          <a:bodyPr wrap="square" lIns="0" tIns="0" rIns="0" bIns="0" anchor="t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sz="4800" b="1" i="0" baseline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lvl="0"/>
            <a:r>
              <a:rPr lang="en-US" altLang="ko-KR"/>
              <a:t>#</a:t>
            </a:r>
            <a:endParaRPr lang="ko-KR" altLang="en-US"/>
          </a:p>
        </p:txBody>
      </p:sp>
      <p:pic>
        <p:nvPicPr>
          <p:cNvPr id="3" name="그래픽 10">
            <a:extLst>
              <a:ext uri="{FF2B5EF4-FFF2-40B4-BE49-F238E27FC236}">
                <a16:creationId xmlns:a16="http://schemas.microsoft.com/office/drawing/2014/main" id="{79B08B49-B094-9CA9-82FD-FB2DDF71E91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53283" y="585614"/>
            <a:ext cx="923023" cy="218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4518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4F1C94-78FF-CE86-68A8-66D63D07A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D8D5150-70EB-C23C-9243-617AAE1A2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19DC8A2-220D-DED3-7E11-97ABAFF54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08B0309-3F69-1847-3237-BBB0F4045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8829373E-CD8E-4DEB-9966-45D0690BCFEE}" type="slidenum">
              <a:rPr lang="ko-KR" altLang="en-US" smtClean="0"/>
              <a:pPr/>
              <a:t>‹#›</a:t>
            </a:fld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BE561A6-7420-45F1-48A7-CF2E3C3DD108}"/>
              </a:ext>
            </a:extLst>
          </p:cNvPr>
          <p:cNvGrpSpPr/>
          <p:nvPr userDrawn="1"/>
        </p:nvGrpSpPr>
        <p:grpSpPr>
          <a:xfrm>
            <a:off x="0" y="-3984"/>
            <a:ext cx="12310999" cy="6861984"/>
            <a:chOff x="0" y="-3984"/>
            <a:chExt cx="12310999" cy="6861984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1E496F16-CA1C-2D9F-A28F-1D695DDED919}"/>
                </a:ext>
              </a:extLst>
            </p:cNvPr>
            <p:cNvGrpSpPr/>
            <p:nvPr/>
          </p:nvGrpSpPr>
          <p:grpSpPr>
            <a:xfrm>
              <a:off x="0" y="0"/>
              <a:ext cx="12310999" cy="6858000"/>
              <a:chOff x="0" y="0"/>
              <a:chExt cx="12310999" cy="6858000"/>
            </a:xfrm>
          </p:grpSpPr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B3A6EC5A-15B1-E46D-6F01-2EA2B38F75AE}"/>
                  </a:ext>
                </a:extLst>
              </p:cNvPr>
              <p:cNvGrpSpPr/>
              <p:nvPr/>
            </p:nvGrpSpPr>
            <p:grpSpPr>
              <a:xfrm>
                <a:off x="0" y="0"/>
                <a:ext cx="12218193" cy="6858000"/>
                <a:chOff x="0" y="0"/>
                <a:chExt cx="12218193" cy="6858000"/>
              </a:xfrm>
            </p:grpSpPr>
            <p:pic>
              <p:nvPicPr>
                <p:cNvPr id="11" name="그림 10">
                  <a:extLst>
                    <a:ext uri="{FF2B5EF4-FFF2-40B4-BE49-F238E27FC236}">
                      <a16:creationId xmlns:a16="http://schemas.microsoft.com/office/drawing/2014/main" id="{E7583C52-00AD-D566-D107-1AEA14C185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33067" y="432270"/>
                  <a:ext cx="9385126" cy="6425730"/>
                </a:xfrm>
                <a:prstGeom prst="rect">
                  <a:avLst/>
                </a:prstGeom>
              </p:spPr>
            </p:pic>
            <p:pic>
              <p:nvPicPr>
                <p:cNvPr id="12" name="그림 11">
                  <a:extLst>
                    <a:ext uri="{FF2B5EF4-FFF2-40B4-BE49-F238E27FC236}">
                      <a16:creationId xmlns:a16="http://schemas.microsoft.com/office/drawing/2014/main" id="{B88B813B-863E-2CA6-85A9-4656A14DF11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75580"/>
                <a:stretch>
                  <a:fillRect/>
                </a:stretch>
              </p:blipFill>
              <p:spPr>
                <a:xfrm>
                  <a:off x="0" y="432270"/>
                  <a:ext cx="4954772" cy="6425730"/>
                </a:xfrm>
                <a:prstGeom prst="rect">
                  <a:avLst/>
                </a:prstGeom>
              </p:spPr>
            </p:pic>
            <p:pic>
              <p:nvPicPr>
                <p:cNvPr id="13" name="그림 12">
                  <a:extLst>
                    <a:ext uri="{FF2B5EF4-FFF2-40B4-BE49-F238E27FC236}">
                      <a16:creationId xmlns:a16="http://schemas.microsoft.com/office/drawing/2014/main" id="{461841CD-A08C-84D7-1341-A47E497E4C0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75580" b="92300"/>
                <a:stretch>
                  <a:fillRect/>
                </a:stretch>
              </p:blipFill>
              <p:spPr>
                <a:xfrm>
                  <a:off x="0" y="0"/>
                  <a:ext cx="4954772" cy="765175"/>
                </a:xfrm>
                <a:prstGeom prst="rect">
                  <a:avLst/>
                </a:prstGeom>
              </p:spPr>
            </p:pic>
            <p:pic>
              <p:nvPicPr>
                <p:cNvPr id="14" name="그림 13">
                  <a:extLst>
                    <a:ext uri="{FF2B5EF4-FFF2-40B4-BE49-F238E27FC236}">
                      <a16:creationId xmlns:a16="http://schemas.microsoft.com/office/drawing/2014/main" id="{E0AB14DD-E133-8ACA-801C-A8085464C9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97289"/>
                <a:stretch>
                  <a:fillRect/>
                </a:stretch>
              </p:blipFill>
              <p:spPr>
                <a:xfrm>
                  <a:off x="2833067" y="0"/>
                  <a:ext cx="9385126" cy="469684"/>
                </a:xfrm>
                <a:prstGeom prst="rect">
                  <a:avLst/>
                </a:prstGeom>
              </p:spPr>
            </p:pic>
          </p:grpSp>
          <p:pic>
            <p:nvPicPr>
              <p:cNvPr id="10" name="그림 9">
                <a:extLst>
                  <a:ext uri="{FF2B5EF4-FFF2-40B4-BE49-F238E27FC236}">
                    <a16:creationId xmlns:a16="http://schemas.microsoft.com/office/drawing/2014/main" id="{82BD791F-D329-3E40-A7A3-8939FDC7A2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20226077">
                <a:off x="6126387" y="1694160"/>
                <a:ext cx="6184612" cy="4123074"/>
              </a:xfrm>
              <a:prstGeom prst="rect">
                <a:avLst/>
              </a:prstGeom>
            </p:spPr>
          </p:pic>
        </p:grp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D50214C-914B-12B7-6209-AF932D21E6F4}"/>
                </a:ext>
              </a:extLst>
            </p:cNvPr>
            <p:cNvSpPr/>
            <p:nvPr/>
          </p:nvSpPr>
          <p:spPr>
            <a:xfrm>
              <a:off x="1021" y="-3984"/>
              <a:ext cx="12190979" cy="6861984"/>
            </a:xfrm>
            <a:prstGeom prst="rect">
              <a:avLst/>
            </a:prstGeom>
            <a:gradFill flip="none" rotWithShape="1">
              <a:gsLst>
                <a:gs pos="100000">
                  <a:srgbClr val="081735"/>
                </a:gs>
                <a:gs pos="29000">
                  <a:srgbClr val="091836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endParaRPr>
            </a:p>
          </p:txBody>
        </p:sp>
      </p:grpSp>
      <p:sp>
        <p:nvSpPr>
          <p:cNvPr id="16" name="Text 2">
            <a:extLst>
              <a:ext uri="{FF2B5EF4-FFF2-40B4-BE49-F238E27FC236}">
                <a16:creationId xmlns:a16="http://schemas.microsoft.com/office/drawing/2014/main" id="{7D290515-CC56-F444-2541-854391BD4F61}"/>
              </a:ext>
            </a:extLst>
          </p:cNvPr>
          <p:cNvSpPr/>
          <p:nvPr userDrawn="1"/>
        </p:nvSpPr>
        <p:spPr>
          <a:xfrm>
            <a:off x="887746" y="3072607"/>
            <a:ext cx="7301530" cy="712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ko-KR" altLang="en-US" sz="4000" b="1" spc="-80" baseline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2" charset="-127"/>
              </a:rPr>
              <a:t>감사합니다</a:t>
            </a:r>
            <a:r>
              <a:rPr lang="en-US" altLang="ko-KR" sz="4000" b="1" spc="-80" baseline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2" charset="-127"/>
              </a:rPr>
              <a:t>.</a:t>
            </a:r>
            <a:endParaRPr lang="en-US" sz="4000" spc="-80" baseline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17" name="그래픽 10">
            <a:extLst>
              <a:ext uri="{FF2B5EF4-FFF2-40B4-BE49-F238E27FC236}">
                <a16:creationId xmlns:a16="http://schemas.microsoft.com/office/drawing/2014/main" id="{0727AE59-4A4C-1E7A-A0D0-28B43297443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biLevel thresh="5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155384" y="5926392"/>
            <a:ext cx="1239104" cy="293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031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4F1C94-78FF-CE86-68A8-66D63D07A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D8D5150-70EB-C23C-9243-617AAE1A2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19DC8A2-220D-DED3-7E11-97ABAFF54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08B0309-3F69-1847-3237-BBB0F4045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8829373E-CD8E-4DEB-9966-45D0690BCFEE}" type="slidenum">
              <a:rPr lang="ko-KR" altLang="en-US" smtClean="0"/>
              <a:pPr/>
              <a:t>‹#›</a:t>
            </a:fld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BE561A6-7420-45F1-48A7-CF2E3C3DD108}"/>
              </a:ext>
            </a:extLst>
          </p:cNvPr>
          <p:cNvGrpSpPr/>
          <p:nvPr userDrawn="1"/>
        </p:nvGrpSpPr>
        <p:grpSpPr>
          <a:xfrm>
            <a:off x="0" y="-3984"/>
            <a:ext cx="12310999" cy="6861984"/>
            <a:chOff x="0" y="-3984"/>
            <a:chExt cx="12310999" cy="6861984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1E496F16-CA1C-2D9F-A28F-1D695DDED919}"/>
                </a:ext>
              </a:extLst>
            </p:cNvPr>
            <p:cNvGrpSpPr/>
            <p:nvPr/>
          </p:nvGrpSpPr>
          <p:grpSpPr>
            <a:xfrm>
              <a:off x="0" y="0"/>
              <a:ext cx="12310999" cy="6858000"/>
              <a:chOff x="0" y="0"/>
              <a:chExt cx="12310999" cy="6858000"/>
            </a:xfrm>
          </p:grpSpPr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B3A6EC5A-15B1-E46D-6F01-2EA2B38F75AE}"/>
                  </a:ext>
                </a:extLst>
              </p:cNvPr>
              <p:cNvGrpSpPr/>
              <p:nvPr/>
            </p:nvGrpSpPr>
            <p:grpSpPr>
              <a:xfrm>
                <a:off x="0" y="0"/>
                <a:ext cx="12218193" cy="6858000"/>
                <a:chOff x="0" y="0"/>
                <a:chExt cx="12218193" cy="6858000"/>
              </a:xfrm>
            </p:grpSpPr>
            <p:pic>
              <p:nvPicPr>
                <p:cNvPr id="11" name="그림 10">
                  <a:extLst>
                    <a:ext uri="{FF2B5EF4-FFF2-40B4-BE49-F238E27FC236}">
                      <a16:creationId xmlns:a16="http://schemas.microsoft.com/office/drawing/2014/main" id="{E7583C52-00AD-D566-D107-1AEA14C185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33067" y="432270"/>
                  <a:ext cx="9385126" cy="6425730"/>
                </a:xfrm>
                <a:prstGeom prst="rect">
                  <a:avLst/>
                </a:prstGeom>
              </p:spPr>
            </p:pic>
            <p:pic>
              <p:nvPicPr>
                <p:cNvPr id="12" name="그림 11">
                  <a:extLst>
                    <a:ext uri="{FF2B5EF4-FFF2-40B4-BE49-F238E27FC236}">
                      <a16:creationId xmlns:a16="http://schemas.microsoft.com/office/drawing/2014/main" id="{B88B813B-863E-2CA6-85A9-4656A14DF11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75580"/>
                <a:stretch>
                  <a:fillRect/>
                </a:stretch>
              </p:blipFill>
              <p:spPr>
                <a:xfrm>
                  <a:off x="0" y="432270"/>
                  <a:ext cx="4954772" cy="6425730"/>
                </a:xfrm>
                <a:prstGeom prst="rect">
                  <a:avLst/>
                </a:prstGeom>
              </p:spPr>
            </p:pic>
            <p:pic>
              <p:nvPicPr>
                <p:cNvPr id="13" name="그림 12">
                  <a:extLst>
                    <a:ext uri="{FF2B5EF4-FFF2-40B4-BE49-F238E27FC236}">
                      <a16:creationId xmlns:a16="http://schemas.microsoft.com/office/drawing/2014/main" id="{461841CD-A08C-84D7-1341-A47E497E4C0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75580" b="92300"/>
                <a:stretch>
                  <a:fillRect/>
                </a:stretch>
              </p:blipFill>
              <p:spPr>
                <a:xfrm>
                  <a:off x="0" y="0"/>
                  <a:ext cx="4954772" cy="765175"/>
                </a:xfrm>
                <a:prstGeom prst="rect">
                  <a:avLst/>
                </a:prstGeom>
              </p:spPr>
            </p:pic>
            <p:pic>
              <p:nvPicPr>
                <p:cNvPr id="14" name="그림 13">
                  <a:extLst>
                    <a:ext uri="{FF2B5EF4-FFF2-40B4-BE49-F238E27FC236}">
                      <a16:creationId xmlns:a16="http://schemas.microsoft.com/office/drawing/2014/main" id="{E0AB14DD-E133-8ACA-801C-A8085464C9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97289"/>
                <a:stretch>
                  <a:fillRect/>
                </a:stretch>
              </p:blipFill>
              <p:spPr>
                <a:xfrm>
                  <a:off x="2833067" y="0"/>
                  <a:ext cx="9385126" cy="469684"/>
                </a:xfrm>
                <a:prstGeom prst="rect">
                  <a:avLst/>
                </a:prstGeom>
              </p:spPr>
            </p:pic>
          </p:grpSp>
          <p:pic>
            <p:nvPicPr>
              <p:cNvPr id="10" name="그림 9">
                <a:extLst>
                  <a:ext uri="{FF2B5EF4-FFF2-40B4-BE49-F238E27FC236}">
                    <a16:creationId xmlns:a16="http://schemas.microsoft.com/office/drawing/2014/main" id="{82BD791F-D329-3E40-A7A3-8939FDC7A2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20226077">
                <a:off x="6126387" y="1694160"/>
                <a:ext cx="6184612" cy="4123074"/>
              </a:xfrm>
              <a:prstGeom prst="rect">
                <a:avLst/>
              </a:prstGeom>
            </p:spPr>
          </p:pic>
        </p:grp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D50214C-914B-12B7-6209-AF932D21E6F4}"/>
                </a:ext>
              </a:extLst>
            </p:cNvPr>
            <p:cNvSpPr/>
            <p:nvPr/>
          </p:nvSpPr>
          <p:spPr>
            <a:xfrm>
              <a:off x="1021" y="-3984"/>
              <a:ext cx="12190979" cy="6861984"/>
            </a:xfrm>
            <a:prstGeom prst="rect">
              <a:avLst/>
            </a:prstGeom>
            <a:gradFill flip="none" rotWithShape="1">
              <a:gsLst>
                <a:gs pos="100000">
                  <a:srgbClr val="081735"/>
                </a:gs>
                <a:gs pos="29000">
                  <a:srgbClr val="091836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endParaRPr>
            </a:p>
          </p:txBody>
        </p:sp>
      </p:grpSp>
      <p:sp>
        <p:nvSpPr>
          <p:cNvPr id="16" name="Text 2">
            <a:extLst>
              <a:ext uri="{FF2B5EF4-FFF2-40B4-BE49-F238E27FC236}">
                <a16:creationId xmlns:a16="http://schemas.microsoft.com/office/drawing/2014/main" id="{7D290515-CC56-F444-2541-854391BD4F61}"/>
              </a:ext>
            </a:extLst>
          </p:cNvPr>
          <p:cNvSpPr/>
          <p:nvPr userDrawn="1"/>
        </p:nvSpPr>
        <p:spPr>
          <a:xfrm>
            <a:off x="887746" y="3072607"/>
            <a:ext cx="7301530" cy="712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4000" b="1" spc="-80" baseline="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2" charset="-127"/>
              </a:rPr>
              <a:t>Thank You</a:t>
            </a:r>
          </a:p>
        </p:txBody>
      </p:sp>
      <p:pic>
        <p:nvPicPr>
          <p:cNvPr id="17" name="그래픽 10">
            <a:extLst>
              <a:ext uri="{FF2B5EF4-FFF2-40B4-BE49-F238E27FC236}">
                <a16:creationId xmlns:a16="http://schemas.microsoft.com/office/drawing/2014/main" id="{0727AE59-4A4C-1E7A-A0D0-28B43297443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biLevel thresh="5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155384" y="5926392"/>
            <a:ext cx="1239104" cy="293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123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3334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12A2ABA2-7549-0E4A-C7EA-0BB0B263CD64}"/>
              </a:ext>
            </a:extLst>
          </p:cNvPr>
          <p:cNvSpPr txBox="1">
            <a:spLocks/>
          </p:cNvSpPr>
          <p:nvPr userDrawn="1"/>
        </p:nvSpPr>
        <p:spPr>
          <a:xfrm>
            <a:off x="47244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CFA4CB79-4A4E-4BF8-B78C-6F71BDBB138A}" type="slidenum">
              <a:rPr lang="ko-KR" altLang="en-US" sz="1050" smtClean="0"/>
              <a:pPr algn="ctr"/>
              <a:t>‹#›</a:t>
            </a:fld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17120764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구분 슬라이드 (Sec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B30CD2-E014-D862-487D-F3442C1A94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398" y="5478432"/>
            <a:ext cx="9144000" cy="453074"/>
          </a:xfrm>
        </p:spPr>
        <p:txBody>
          <a:bodyPr anchor="t">
            <a:noAutofit/>
          </a:bodyPr>
          <a:lstStyle>
            <a:lvl1pPr algn="l">
              <a:defRPr lang="ko-KR" altLang="en-US" sz="2800" kern="1200" baseline="0" dirty="0">
                <a:ln>
                  <a:solidFill>
                    <a:srgbClr val="156082">
                      <a:alpha val="0"/>
                    </a:srgbClr>
                  </a:solidFill>
                </a:ln>
                <a:solidFill>
                  <a:srgbClr val="0E2841">
                    <a:lumMod val="50000"/>
                    <a:lumOff val="50000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Arial" panose="020B0604020202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pic>
        <p:nvPicPr>
          <p:cNvPr id="11" name="그래픽 19">
            <a:extLst>
              <a:ext uri="{FF2B5EF4-FFF2-40B4-BE49-F238E27FC236}">
                <a16:creationId xmlns:a16="http://schemas.microsoft.com/office/drawing/2014/main" id="{705517C8-90D0-D70D-0C71-29126424349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849596" y="501473"/>
            <a:ext cx="1527946" cy="361715"/>
          </a:xfrm>
          <a:prstGeom prst="rect">
            <a:avLst/>
          </a:prstGeom>
        </p:spPr>
      </p:pic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220EE987-EA8F-34D5-6BFA-6A0ADCB99A68}"/>
              </a:ext>
            </a:extLst>
          </p:cNvPr>
          <p:cNvCxnSpPr>
            <a:cxnSpLocks/>
          </p:cNvCxnSpPr>
          <p:nvPr userDrawn="1"/>
        </p:nvCxnSpPr>
        <p:spPr>
          <a:xfrm>
            <a:off x="219467" y="1092809"/>
            <a:ext cx="0" cy="1956880"/>
          </a:xfrm>
          <a:prstGeom prst="line">
            <a:avLst/>
          </a:prstGeom>
          <a:ln w="63500">
            <a:gradFill flip="none" rotWithShape="1">
              <a:gsLst>
                <a:gs pos="0">
                  <a:srgbClr val="9BCBFF"/>
                </a:gs>
                <a:gs pos="36000">
                  <a:srgbClr val="00B0F0"/>
                </a:gs>
              </a:gsLst>
              <a:path path="circle">
                <a:fillToRect r="100000" b="100000"/>
              </a:path>
              <a:tileRect l="-100000" t="-10000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텍스트 개체 틀 18">
            <a:extLst>
              <a:ext uri="{FF2B5EF4-FFF2-40B4-BE49-F238E27FC236}">
                <a16:creationId xmlns:a16="http://schemas.microsoft.com/office/drawing/2014/main" id="{44D88394-3AD5-DF0F-B5D1-C0555B3539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3285" y="6042312"/>
            <a:ext cx="3576073" cy="193250"/>
          </a:xfrm>
        </p:spPr>
        <p:txBody>
          <a:bodyPr lIns="0" tIns="0" rIns="0" bIns="0">
            <a:normAutofit/>
          </a:bodyPr>
          <a:lstStyle>
            <a:lvl1pPr>
              <a:defRPr lang="ko-KR" altLang="en-US" sz="1400" b="1" kern="1200" spc="-110" baseline="0" dirty="0">
                <a:ln>
                  <a:solidFill>
                    <a:srgbClr val="393950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203200" dist="50800" dir="2700000" sx="101000" sy="101000" algn="tl" rotWithShape="0">
                    <a:srgbClr val="1A2940">
                      <a:alpha val="92000"/>
                    </a:srgbClr>
                  </a:outerShdw>
                </a:effectLst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lvl="0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525898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image" Target="../media/image1.png"/><Relationship Id="rId10" Type="http://schemas.openxmlformats.org/officeDocument/2006/relationships/image" Target="../media/image2.png"/><Relationship Id="rId1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240A1E5A-E172-AC10-854D-24BBEE2F8E5D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628" t="2809" r="18789"/>
          <a:stretch/>
        </p:blipFill>
        <p:spPr>
          <a:xfrm>
            <a:off x="2721501" y="-2931"/>
            <a:ext cx="9486541" cy="6860931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1BD87D88-6C00-704B-904C-E19EBFFEE17B}"/>
              </a:ext>
            </a:extLst>
          </p:cNvPr>
          <p:cNvSpPr/>
          <p:nvPr/>
        </p:nvSpPr>
        <p:spPr>
          <a:xfrm>
            <a:off x="6059489" y="0"/>
            <a:ext cx="6132512" cy="6858000"/>
          </a:xfrm>
          <a:prstGeom prst="rect">
            <a:avLst/>
          </a:prstGeom>
          <a:gradFill>
            <a:gsLst>
              <a:gs pos="0">
                <a:srgbClr val="003399"/>
              </a:gs>
              <a:gs pos="87000">
                <a:srgbClr val="003399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BC73EB6-06FB-6DB7-04AD-CB491FBA3AC4}"/>
              </a:ext>
            </a:extLst>
          </p:cNvPr>
          <p:cNvSpPr/>
          <p:nvPr/>
        </p:nvSpPr>
        <p:spPr>
          <a:xfrm>
            <a:off x="2" y="0"/>
            <a:ext cx="6059487" cy="6858000"/>
          </a:xfrm>
          <a:prstGeom prst="rect">
            <a:avLst/>
          </a:prstGeom>
          <a:gradFill flip="none" rotWithShape="1">
            <a:gsLst>
              <a:gs pos="0">
                <a:srgbClr val="003399"/>
              </a:gs>
              <a:gs pos="100000">
                <a:srgbClr val="000066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D1F8CC1-179E-1B19-CCD9-5183C55A5BBD}"/>
              </a:ext>
            </a:extLst>
          </p:cNvPr>
          <p:cNvSpPr/>
          <p:nvPr/>
        </p:nvSpPr>
        <p:spPr>
          <a:xfrm>
            <a:off x="1" y="932109"/>
            <a:ext cx="12210473" cy="59258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solidFill>
                  <a:srgbClr val="156082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제목 개체 틀 18">
            <a:extLst>
              <a:ext uri="{FF2B5EF4-FFF2-40B4-BE49-F238E27FC236}">
                <a16:creationId xmlns:a16="http://schemas.microsoft.com/office/drawing/2014/main" id="{3EB53DEE-6C21-1879-1BB9-AADB9A932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083" y="563791"/>
            <a:ext cx="5034328" cy="273280"/>
          </a:xfrm>
          <a:prstGeom prst="rect">
            <a:avLst/>
          </a:prstGeom>
        </p:spPr>
        <p:txBody>
          <a:bodyPr vert="horz" wrap="square" lIns="0" tIns="0" rIns="91440" bIns="0" rtlCol="0" anchor="ctr" anchorCtr="0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DBEAC580-D804-49B5-EFB6-39A9BC494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29519" y="1250845"/>
            <a:ext cx="9773943" cy="707887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1" name="날짜 개체 틀 20">
            <a:extLst>
              <a:ext uri="{FF2B5EF4-FFF2-40B4-BE49-F238E27FC236}">
                <a16:creationId xmlns:a16="http://schemas.microsoft.com/office/drawing/2014/main" id="{476E0C86-8D6E-80B2-2A35-29F95D8203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22" name="바닥글 개체 틀 21">
            <a:extLst>
              <a:ext uri="{FF2B5EF4-FFF2-40B4-BE49-F238E27FC236}">
                <a16:creationId xmlns:a16="http://schemas.microsoft.com/office/drawing/2014/main" id="{BE4C797B-54EA-3DB6-75D2-7AE275BE5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23" name="슬라이드 번호 개체 틀 22">
            <a:extLst>
              <a:ext uri="{FF2B5EF4-FFF2-40B4-BE49-F238E27FC236}">
                <a16:creationId xmlns:a16="http://schemas.microsoft.com/office/drawing/2014/main" id="{9DEF8BC8-8BCB-668E-6364-C0C843E700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29373E-CD8E-4DEB-9966-45D0690BCFE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4F72DD9-DA76-46DC-DBF6-194B59F821EC}"/>
              </a:ext>
            </a:extLst>
          </p:cNvPr>
          <p:cNvSpPr/>
          <p:nvPr/>
        </p:nvSpPr>
        <p:spPr>
          <a:xfrm>
            <a:off x="1" y="932109"/>
            <a:ext cx="12210473" cy="59258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solidFill>
                  <a:srgbClr val="156082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2B64CACD-939D-DC60-D6B6-9DDDC0A1FE3E}"/>
              </a:ext>
            </a:extLst>
          </p:cNvPr>
          <p:cNvGrpSpPr/>
          <p:nvPr userDrawn="1"/>
        </p:nvGrpSpPr>
        <p:grpSpPr>
          <a:xfrm>
            <a:off x="0" y="0"/>
            <a:ext cx="12208042" cy="6858000"/>
            <a:chOff x="0" y="0"/>
            <a:chExt cx="12192000" cy="6858000"/>
          </a:xfrm>
        </p:grpSpPr>
        <p:pic>
          <p:nvPicPr>
            <p:cNvPr id="60" name="그림 59" descr="연기, 빛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2625F7B-A53A-0ACA-A5D8-B463F6FB45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8257"/>
            <a:stretch>
              <a:fillRect/>
            </a:stretch>
          </p:blipFill>
          <p:spPr>
            <a:xfrm>
              <a:off x="0" y="0"/>
              <a:ext cx="4141694" cy="6858000"/>
            </a:xfrm>
            <a:prstGeom prst="rect">
              <a:avLst/>
            </a:prstGeom>
          </p:spPr>
        </p:pic>
        <p:pic>
          <p:nvPicPr>
            <p:cNvPr id="61" name="그림 60" descr="연기, 빛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095F2A6F-BC52-588F-9608-65C8C12C6A6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05000" y="0"/>
              <a:ext cx="10287000" cy="6858000"/>
            </a:xfrm>
            <a:prstGeom prst="rect">
              <a:avLst/>
            </a:prstGeom>
          </p:spPr>
        </p:pic>
      </p:grp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25EDA0BF-E58F-E6EC-9F74-70E8CA854F3B}"/>
              </a:ext>
            </a:extLst>
          </p:cNvPr>
          <p:cNvGrpSpPr/>
          <p:nvPr userDrawn="1"/>
        </p:nvGrpSpPr>
        <p:grpSpPr>
          <a:xfrm>
            <a:off x="-1039378" y="0"/>
            <a:ext cx="936174" cy="3598929"/>
            <a:chOff x="-2296924" y="-285595"/>
            <a:chExt cx="936174" cy="3598929"/>
          </a:xfrm>
        </p:grpSpPr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2919E692-F215-41C7-59EC-FC995EAE5330}"/>
                </a:ext>
              </a:extLst>
            </p:cNvPr>
            <p:cNvSpPr/>
            <p:nvPr userDrawn="1"/>
          </p:nvSpPr>
          <p:spPr>
            <a:xfrm>
              <a:off x="-2296924" y="2973452"/>
              <a:ext cx="936174" cy="339882"/>
            </a:xfrm>
            <a:prstGeom prst="rect">
              <a:avLst/>
            </a:prstGeom>
            <a:solidFill>
              <a:srgbClr val="00C2B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/>
                <a:t>#00C2B8</a:t>
              </a:r>
              <a:endParaRPr lang="ko-KR" altLang="en-US" sz="1200"/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F3728013-5CC0-C683-43B1-6435930AD04B}"/>
                </a:ext>
              </a:extLst>
            </p:cNvPr>
            <p:cNvSpPr/>
            <p:nvPr userDrawn="1"/>
          </p:nvSpPr>
          <p:spPr>
            <a:xfrm>
              <a:off x="-2296924" y="1751310"/>
              <a:ext cx="936174" cy="339882"/>
            </a:xfrm>
            <a:prstGeom prst="rect">
              <a:avLst/>
            </a:prstGeom>
            <a:solidFill>
              <a:srgbClr val="9E1C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/>
                <a:t>#9E1C33</a:t>
              </a:r>
              <a:endParaRPr lang="ko-KR" altLang="en-US" sz="1200"/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0CC1A7A2-77A6-CC1C-92CA-9D08F009C614}"/>
                </a:ext>
              </a:extLst>
            </p:cNvPr>
            <p:cNvSpPr/>
            <p:nvPr userDrawn="1"/>
          </p:nvSpPr>
          <p:spPr>
            <a:xfrm>
              <a:off x="-2296924" y="-285595"/>
              <a:ext cx="936174" cy="339882"/>
            </a:xfrm>
            <a:prstGeom prst="rect">
              <a:avLst/>
            </a:prstGeom>
            <a:solidFill>
              <a:srgbClr val="0B1F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/>
                <a:t>#0B1F3A</a:t>
              </a:r>
              <a:endParaRPr lang="ko-KR" altLang="en-US" sz="1200"/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6348EFBC-E59E-4C36-5C7D-6A5362515AF5}"/>
                </a:ext>
              </a:extLst>
            </p:cNvPr>
            <p:cNvSpPr/>
            <p:nvPr userDrawn="1"/>
          </p:nvSpPr>
          <p:spPr>
            <a:xfrm>
              <a:off x="-2296924" y="2566072"/>
              <a:ext cx="936174" cy="339882"/>
            </a:xfrm>
            <a:prstGeom prst="rect">
              <a:avLst/>
            </a:prstGeom>
            <a:solidFill>
              <a:srgbClr val="0078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/>
                <a:t>#0078FF</a:t>
              </a:r>
              <a:endParaRPr lang="ko-KR" altLang="en-US" sz="120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48E88E03-BD73-D804-E8C6-8492626AEBD3}"/>
                </a:ext>
              </a:extLst>
            </p:cNvPr>
            <p:cNvSpPr txBox="1"/>
            <p:nvPr userDrawn="1"/>
          </p:nvSpPr>
          <p:spPr>
            <a:xfrm>
              <a:off x="-2296924" y="2158691"/>
              <a:ext cx="936174" cy="339882"/>
            </a:xfrm>
            <a:prstGeom prst="rect">
              <a:avLst/>
            </a:prstGeom>
            <a:solidFill>
              <a:srgbClr val="D32F2F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00">
                  <a:solidFill>
                    <a:schemeClr val="bg1"/>
                  </a:solidFill>
                </a:rPr>
                <a:t>#D32F2F</a:t>
              </a:r>
              <a:endParaRPr lang="ko-KR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E0997FB7-4C6D-F9D3-9B15-83C1D651675D}"/>
                </a:ext>
              </a:extLst>
            </p:cNvPr>
            <p:cNvSpPr/>
            <p:nvPr/>
          </p:nvSpPr>
          <p:spPr>
            <a:xfrm>
              <a:off x="-2296924" y="121786"/>
              <a:ext cx="936174" cy="339882"/>
            </a:xfrm>
            <a:prstGeom prst="rect">
              <a:avLst/>
            </a:prstGeom>
            <a:solidFill>
              <a:srgbClr val="0B1F3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/>
                <a:t>#0B1F3B</a:t>
              </a:r>
              <a:endParaRPr lang="ko-KR" altLang="en-US" sz="1200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A9E1F9DD-B9B2-0A85-266A-45603FDBD190}"/>
                </a:ext>
              </a:extLst>
            </p:cNvPr>
            <p:cNvSpPr/>
            <p:nvPr/>
          </p:nvSpPr>
          <p:spPr>
            <a:xfrm>
              <a:off x="-2296924" y="529167"/>
              <a:ext cx="936174" cy="339882"/>
            </a:xfrm>
            <a:prstGeom prst="rect">
              <a:avLst/>
            </a:prstGeom>
            <a:solidFill>
              <a:srgbClr val="0094D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/>
                <a:t>#0094D8</a:t>
              </a:r>
              <a:endParaRPr lang="ko-KR" altLang="en-US" sz="1200"/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69FE6BAA-6B29-2031-7564-284FC7F7BD66}"/>
                </a:ext>
              </a:extLst>
            </p:cNvPr>
            <p:cNvSpPr/>
            <p:nvPr/>
          </p:nvSpPr>
          <p:spPr>
            <a:xfrm>
              <a:off x="-2296924" y="936548"/>
              <a:ext cx="936174" cy="339882"/>
            </a:xfrm>
            <a:prstGeom prst="rect">
              <a:avLst/>
            </a:prstGeom>
            <a:solidFill>
              <a:srgbClr val="36BF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/>
                <a:t>#36BFFA</a:t>
              </a:r>
              <a:endParaRPr lang="ko-KR" altLang="en-US" sz="1200"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15B6CE2E-AFD5-D0ED-E8F0-77A6FD79792F}"/>
                </a:ext>
              </a:extLst>
            </p:cNvPr>
            <p:cNvSpPr/>
            <p:nvPr/>
          </p:nvSpPr>
          <p:spPr>
            <a:xfrm>
              <a:off x="-2296924" y="1343929"/>
              <a:ext cx="936174" cy="339882"/>
            </a:xfrm>
            <a:prstGeom prst="rect">
              <a:avLst/>
            </a:prstGeom>
            <a:solidFill>
              <a:srgbClr val="EAF4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>
                  <a:solidFill>
                    <a:srgbClr val="0B1F3A"/>
                  </a:solidFill>
                </a:rPr>
                <a:t>#EAF4FB</a:t>
              </a:r>
              <a:endParaRPr lang="ko-KR" altLang="en-US" sz="1200">
                <a:solidFill>
                  <a:srgbClr val="0B1F3A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7277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9" r:id="rId2"/>
    <p:sldLayoutId id="2147483691" r:id="rId3"/>
    <p:sldLayoutId id="2147483690" r:id="rId4"/>
    <p:sldLayoutId id="2147483693" r:id="rId5"/>
    <p:sldLayoutId id="2147483692" r:id="rId6"/>
    <p:sldLayoutId id="2147483694" r:id="rId7"/>
    <p:sldLayoutId id="2147483695" r:id="rId11"/>
  </p:sldLayoutIdLst>
  <p:hf hdr="0" ftr="0" dt="0"/>
  <p:txStyles>
    <p:titleStyle>
      <a:lvl1pPr marL="0" indent="0" algn="l" defTabSz="914377" rtl="0" eaLnBrk="1" latinLnBrk="1" hangingPunct="1">
        <a:lnSpc>
          <a:spcPct val="100000"/>
        </a:lnSpc>
        <a:spcBef>
          <a:spcPct val="0"/>
        </a:spcBef>
        <a:spcAft>
          <a:spcPts val="0"/>
        </a:spcAft>
        <a:buFontTx/>
        <a:buNone/>
        <a:defRPr sz="2000" b="1" i="0" kern="1200">
          <a:solidFill>
            <a:srgbClr val="FFFFFF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0" indent="0" algn="l" defTabSz="914377" rtl="0" eaLnBrk="1" latinLnBrk="1" hangingPunct="1">
        <a:lnSpc>
          <a:spcPct val="90000"/>
        </a:lnSpc>
        <a:spcBef>
          <a:spcPct val="0"/>
        </a:spcBef>
        <a:spcAft>
          <a:spcPts val="0"/>
        </a:spcAft>
        <a:buFontTx/>
        <a:buNone/>
        <a:defRPr sz="1800" b="0" i="0" kern="1200">
          <a:solidFill>
            <a:srgbClr val="000000"/>
          </a:solidFill>
          <a:latin typeface="Arial" panose="020B0604020202020204" pitchFamily="34" charset="0"/>
          <a:ea typeface="+mn-ea"/>
          <a:cs typeface="+mn-cs"/>
        </a:defRPr>
      </a:lvl1pPr>
      <a:lvl2pPr marL="0" indent="0" algn="l" defTabSz="914377" rtl="0" eaLnBrk="1" latinLnBrk="1" hangingPunct="1">
        <a:lnSpc>
          <a:spcPct val="90000"/>
        </a:lnSpc>
        <a:spcBef>
          <a:spcPct val="0"/>
        </a:spcBef>
        <a:spcAft>
          <a:spcPts val="0"/>
        </a:spcAft>
        <a:buFontTx/>
        <a:buNone/>
        <a:defRPr sz="2400" b="0" i="0" kern="1200">
          <a:solidFill>
            <a:srgbClr val="000000"/>
          </a:solidFill>
          <a:latin typeface=""/>
          <a:ea typeface="+mn-ea"/>
          <a:cs typeface="+mn-cs"/>
        </a:defRPr>
      </a:lvl2pPr>
      <a:lvl3pPr marL="0" indent="0" algn="l" defTabSz="914377" rtl="0" eaLnBrk="1" latinLnBrk="1" hangingPunct="1">
        <a:lnSpc>
          <a:spcPct val="90000"/>
        </a:lnSpc>
        <a:spcBef>
          <a:spcPct val="0"/>
        </a:spcBef>
        <a:spcAft>
          <a:spcPts val="0"/>
        </a:spcAft>
        <a:buFontTx/>
        <a:buNone/>
        <a:defRPr sz="2000" b="0" i="0" kern="1200">
          <a:solidFill>
            <a:srgbClr val="000000"/>
          </a:solidFill>
          <a:latin typeface=""/>
          <a:ea typeface="+mn-ea"/>
          <a:cs typeface="+mn-cs"/>
        </a:defRPr>
      </a:lvl3pPr>
      <a:lvl4pPr marL="0" indent="0" algn="l" defTabSz="914377" rtl="0" eaLnBrk="1" latinLnBrk="1" hangingPunct="1">
        <a:lnSpc>
          <a:spcPct val="90000"/>
        </a:lnSpc>
        <a:spcBef>
          <a:spcPct val="0"/>
        </a:spcBef>
        <a:spcAft>
          <a:spcPts val="0"/>
        </a:spcAft>
        <a:buFontTx/>
        <a:buNone/>
        <a:defRPr sz="1800" b="0" i="0" kern="1200">
          <a:solidFill>
            <a:srgbClr val="000000"/>
          </a:solidFill>
          <a:latin typeface=""/>
          <a:ea typeface="+mn-ea"/>
          <a:cs typeface="+mn-cs"/>
        </a:defRPr>
      </a:lvl4pPr>
      <a:lvl5pPr marL="0" indent="0" algn="l" defTabSz="914377" rtl="0" eaLnBrk="1" latinLnBrk="1" hangingPunct="1">
        <a:lnSpc>
          <a:spcPct val="90000"/>
        </a:lnSpc>
        <a:spcBef>
          <a:spcPct val="0"/>
        </a:spcBef>
        <a:spcAft>
          <a:spcPts val="0"/>
        </a:spcAft>
        <a:buFontTx/>
        <a:buNone/>
        <a:defRPr sz="1800" b="0" i="0" kern="1200">
          <a:solidFill>
            <a:srgbClr val="000000"/>
          </a:solidFill>
          <a:latin typeface=""/>
          <a:ea typeface="+mn-ea"/>
          <a:cs typeface="+mn-cs"/>
        </a:defRPr>
      </a:lvl5pPr>
      <a:lvl6pPr marL="2514537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hyperlink" Target="https://hyungwookc07.github.io/msdata-workshop/poll/" TargetMode="External"/><Relationship Id="rId5" Type="http://schemas.openxmlformats.org/officeDocument/2006/relationships/hyperlink" Target="https://bit.ly/4ic39tS" TargetMode="External"/><Relationship Id="rId6" Type="http://schemas.openxmlformats.org/officeDocument/2006/relationships/hyperlink" Target="https://github.com/hyungwookc07/msdata-workshop" TargetMode="External"/><Relationship Id="rId7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png"/><Relationship Id="rId4" Type="http://schemas.microsoft.com/office/2007/relationships/hdphoto" Target="../media/hdphoto2.wdp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8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9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0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Relationship Id="rId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png"/><Relationship Id="rId3" Type="http://schemas.openxmlformats.org/officeDocument/2006/relationships/image" Target="../media/image75.png"/><Relationship Id="rId4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png"/><Relationship Id="rId3" Type="http://schemas.openxmlformats.org/officeDocument/2006/relationships/hyperlink" Target="https://colab.research.google.com/github/hyungwookc07/msdata-workshop/blob/main/hands_on_diet_liver.ipynb" TargetMode="External"/><Relationship Id="rId4" Type="http://schemas.openxmlformats.org/officeDocument/2006/relationships/hyperlink" Target="https://biit.cs.ut.ee/gprofiler/gost" TargetMode="External"/><Relationship Id="rId5" Type="http://schemas.openxmlformats.org/officeDocument/2006/relationships/hyperlink" Target="https://www.webgestalt.org" TargetMode="External"/><Relationship Id="rId6" Type="http://schemas.openxmlformats.org/officeDocument/2006/relationships/hyperlink" Target="https://string-db.org" TargetMode="External"/><Relationship Id="rId7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hyungwookc07/msdata-workshop/blob/main/data/de_results_limma.csv" TargetMode="External"/><Relationship Id="rId3" Type="http://schemas.openxmlformats.org/officeDocument/2006/relationships/hyperlink" Target="https://github.com/hyungwookc07/msdata-workshop/blob/main/figures/volcano_HFD_vs_HSD.png" TargetMode="External"/><Relationship Id="rId4" Type="http://schemas.openxmlformats.org/officeDocument/2006/relationships/hyperlink" Target="https://github.com/hyungwookc07/msdata-workshop/tree/main/data" TargetMode="External"/><Relationship Id="rId5" Type="http://schemas.openxmlformats.org/officeDocument/2006/relationships/hyperlink" Target="https://colab.research.google.com/github/hyungwookc07/msdata-workshop/blob/main/hands_on_diet_liver.ipynb" TargetMode="External"/><Relationship Id="rId6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biit.cs.ut.ee/gprofiler/gost" TargetMode="External"/><Relationship Id="rId3" Type="http://schemas.openxmlformats.org/officeDocument/2006/relationships/hyperlink" Target="https://raw.githubusercontent.com/hyungwookc07/msdata-workshop/main/data/down_genes.txt" TargetMode="External"/><Relationship Id="rId4" Type="http://schemas.openxmlformats.org/officeDocument/2006/relationships/hyperlink" Target="https://raw.githubusercontent.com/hyungwookc07/msdata-workshop/main/data/background.txt" TargetMode="External"/><Relationship Id="rId5" Type="http://schemas.openxmlformats.org/officeDocument/2006/relationships/hyperlink" Target="https://colab.research.google.com/github/hyungwookc07/msdata-workshop/blob/main/hands_on_diet_liver.ipynb" TargetMode="External"/><Relationship Id="rId6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webgestalt.org" TargetMode="External"/><Relationship Id="rId3" Type="http://schemas.openxmlformats.org/officeDocument/2006/relationships/hyperlink" Target="https://github.com/hyungwookc07/msdata-workshop/blob/main/data/ranked_list.rnk" TargetMode="External"/><Relationship Id="rId4" Type="http://schemas.openxmlformats.org/officeDocument/2006/relationships/hyperlink" Target="https://colab.research.google.com/github/hyungwookc07/msdata-workshop/blob/main/hands_on_diet_liver.ipynb" TargetMode="External"/><Relationship Id="rId5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string-db.org" TargetMode="External"/><Relationship Id="rId3" Type="http://schemas.openxmlformats.org/officeDocument/2006/relationships/hyperlink" Target="https://raw.githubusercontent.com/hyungwookc07/msdata-workshop/main/data/down_genes.txt" TargetMode="External"/><Relationship Id="rId4" Type="http://schemas.openxmlformats.org/officeDocument/2006/relationships/hyperlink" Target="https://colab.research.google.com/github/hyungwookc07/msdata-workshop/blob/main/hands_on_diet_liver.ipynb" TargetMode="External"/><Relationship Id="rId5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/Relationships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alk_title"/>
          <p:cNvSpPr txBox="1"/>
          <p:nvPr/>
        </p:nvSpPr>
        <p:spPr>
          <a:xfrm>
            <a:off x="274320" y="3840480"/>
            <a:ext cx="7315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8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2. Tutorial:</a:t>
            </a:r>
          </a:p>
          <a:p>
            <a:pPr algn="l">
              <a:spcAft>
                <a:spcPts val="0"/>
              </a:spcAft>
              <a:buNone/>
            </a:pPr>
            <a:r>
              <a:rPr sz="28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Bioinformatics analysis for proteomics</a:t>
            </a:r>
          </a:p>
        </p:txBody>
      </p:sp>
      <p:sp>
        <p:nvSpPr>
          <p:cNvPr id="3" name="presenter"/>
          <p:cNvSpPr txBox="1"/>
          <p:nvPr/>
        </p:nvSpPr>
        <p:spPr>
          <a:xfrm>
            <a:off x="274320" y="48920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rgbClr val="B2CBE5"/>
                </a:solidFill>
                <a:latin typeface="Pretendard"/>
                <a:ea typeface="Pretendard"/>
                <a:cs typeface="Pretendard"/>
              </a:rPr>
              <a:t>Hyung-Wook Choi, AI Informatics Team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Quick Poll &amp; Materials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Answer three questions and open the materials</a:t>
            </a:r>
          </a:p>
        </p:txBody>
      </p:sp>
      <p:sp>
        <p:nvSpPr>
          <p:cNvPr id="29" name="슬라이드 번호 개체 틀 8">
            <a:extLst>
              <a:ext uri="{FF2B5EF4-FFF2-40B4-BE49-F238E27FC236}">
                <a16:creationId xmlns:a16="http://schemas.microsoft.com/office/drawing/2014/main" id="{D50649B0-8C95-ACB8-E146-F4DACBF93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9433" y="6435007"/>
            <a:ext cx="2743200" cy="365125"/>
          </a:xfrm>
        </p:spPr>
        <p:txBody>
          <a:bodyPr/>
          <a:lstStyle/>
          <a:p>
            <a:fld id="{8829373E-CD8E-4DEB-9966-45D0690BCFEE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30" name="Rounded Rectangle 29"/>
          <p:cNvSpPr/>
          <p:nvPr/>
        </p:nvSpPr>
        <p:spPr>
          <a:xfrm>
            <a:off x="896112" y="2057400"/>
            <a:ext cx="5029200" cy="425196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170432" y="2240280"/>
            <a:ext cx="4480560" cy="301752"/>
          </a:xfrm>
          <a:prstGeom prst="roundRect">
            <a:avLst>
              <a:gd name="adj" fmla="val 50000"/>
            </a:avLst>
          </a:prstGeom>
          <a:solidFill>
            <a:srgbClr val="1FA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spcAft>
                <a:spcPts val="4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Quick Poll</a:t>
            </a:r>
          </a:p>
        </p:txBody>
      </p:sp>
      <p:pic>
        <p:nvPicPr>
          <p:cNvPr id="32" name="Picture 31" descr="qr_po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12" y="2743200"/>
            <a:ext cx="2286000" cy="22860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96112" y="51663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2200" b="1" i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3 questions · 1 min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72784" y="2057400"/>
            <a:ext cx="5029200" cy="425196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547104" y="2240280"/>
            <a:ext cx="4480560" cy="301752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spcAft>
                <a:spcPts val="4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Materials</a:t>
            </a:r>
          </a:p>
        </p:txBody>
      </p:sp>
      <p:pic>
        <p:nvPicPr>
          <p:cNvPr id="36" name="Picture 35" descr="qr_re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4383" y="2743200"/>
            <a:ext cx="2286000" cy="22860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272784" y="51663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2200" b="1" i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  <a:hlinkClick r:id="rId5"/>
              </a:rPr>
              <a:t>bit.ly/4ic39tS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72784" y="58978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rgbClr val="5B6B80"/>
                </a:solidFill>
                <a:latin typeface="Pretendard"/>
                <a:ea typeface="Pretendard"/>
                <a:cs typeface="Pretendard"/>
              </a:rPr>
              <a:t>Data · Colab notebook · slides</a:t>
            </a:r>
          </a:p>
        </p:txBody>
      </p:sp>
      <p:sp>
        <p:nvSpPr>
          <p:cNvPr id="39" name="poll_results_link">
            <a:hlinkClick r:id="rId4"/>
          </p:cNvPr>
          <p:cNvSpPr/>
          <p:nvPr/>
        </p:nvSpPr>
        <p:spPr>
          <a:xfrm>
            <a:off x="2496312" y="566928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1FA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>
              <a:spcAft>
                <a:spcPts val="4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Live results</a:t>
            </a:r>
          </a:p>
        </p:txBody>
      </p:sp>
      <p:sp>
        <p:nvSpPr>
          <p:cNvPr id="40" name="repo_url"/>
          <p:cNvSpPr txBox="1"/>
          <p:nvPr/>
        </p:nvSpPr>
        <p:spPr>
          <a:xfrm>
            <a:off x="6272784" y="5559552"/>
            <a:ext cx="5029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1" i="0">
                <a:solidFill>
                  <a:srgbClr val="003399"/>
                </a:solidFill>
                <a:latin typeface="Pretendard SemiBold"/>
                <a:ea typeface="Pretendard SemiBold"/>
                <a:cs typeface="Pretendard SemiBold"/>
                <a:hlinkClick r:id="rId6"/>
              </a:rPr>
              <a:t>github.com/hyungwookc07/msdata-workshop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Proteomics Workflow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Today's tutorial: from spectra to biological insight</a:t>
            </a:r>
          </a:p>
        </p:txBody>
      </p:sp>
      <p:sp>
        <p:nvSpPr>
          <p:cNvPr id="29" name="슬라이드 번호 개체 틀 8">
            <a:extLst>
              <a:ext uri="{FF2B5EF4-FFF2-40B4-BE49-F238E27FC236}">
                <a16:creationId xmlns:a16="http://schemas.microsoft.com/office/drawing/2014/main" id="{D50649B0-8C95-ACB8-E146-F4DACBF93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9433" y="6435007"/>
            <a:ext cx="2743200" cy="365125"/>
          </a:xfrm>
        </p:spPr>
        <p:txBody>
          <a:bodyPr/>
          <a:lstStyle/>
          <a:p>
            <a:fld id="{8829373E-CD8E-4DEB-9966-45D0690BCFEE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127" name="모서리가 둥근 직사각형 7">
            <a:extLst>
              <a:ext uri="{FF2B5EF4-FFF2-40B4-BE49-F238E27FC236}">
                <a16:creationId xmlns:a16="http://schemas.microsoft.com/office/drawing/2014/main" id="{EC00F3B5-F3BB-0E28-3120-47FDB77D3044}"/>
              </a:ext>
            </a:extLst>
          </p:cNvPr>
          <p:cNvSpPr>
            <a:spLocks/>
          </p:cNvSpPr>
          <p:nvPr/>
        </p:nvSpPr>
        <p:spPr>
          <a:xfrm>
            <a:off x="859070" y="2045307"/>
            <a:ext cx="1672872" cy="3471720"/>
          </a:xfrm>
          <a:prstGeom prst="roundRect">
            <a:avLst>
              <a:gd name="adj" fmla="val 4526"/>
            </a:avLst>
          </a:prstGeom>
          <a:solidFill>
            <a:sysClr val="window" lastClr="FFFFFF"/>
          </a:solidFill>
          <a:ln w="12700" cap="flat" cmpd="sng" algn="ctr">
            <a:gradFill>
              <a:gsLst>
                <a:gs pos="0">
                  <a:sysClr val="window" lastClr="FFFFFF"/>
                </a:gs>
                <a:gs pos="37000">
                  <a:sysClr val="window" lastClr="FFFFFF">
                    <a:lumMod val="85000"/>
                  </a:sysClr>
                </a:gs>
                <a:gs pos="99000">
                  <a:sysClr val="window" lastClr="FFFFFF">
                    <a:lumMod val="85000"/>
                  </a:sysClr>
                </a:gs>
                <a:gs pos="69000">
                  <a:sysClr val="window" lastClr="FFFFFF">
                    <a:lumMod val="95000"/>
                  </a:sysClr>
                </a:gs>
              </a:gsLst>
              <a:lin ang="2700000" scaled="0"/>
            </a:gradFill>
            <a:prstDash val="solid"/>
            <a:miter lim="800000"/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8" name="사각형: 둥근 모서리 127">
            <a:extLst>
              <a:ext uri="{FF2B5EF4-FFF2-40B4-BE49-F238E27FC236}">
                <a16:creationId xmlns:a16="http://schemas.microsoft.com/office/drawing/2014/main" id="{7CCA4F61-C806-AA96-53C2-659932C20C17}"/>
              </a:ext>
            </a:extLst>
          </p:cNvPr>
          <p:cNvSpPr/>
          <p:nvPr/>
        </p:nvSpPr>
        <p:spPr>
          <a:xfrm>
            <a:off x="915896" y="3466586"/>
            <a:ext cx="1582387" cy="1983534"/>
          </a:xfrm>
          <a:prstGeom prst="roundRect">
            <a:avLst>
              <a:gd name="adj" fmla="val 4687"/>
            </a:avLst>
          </a:prstGeom>
          <a:solidFill>
            <a:sysClr val="window" lastClr="FFFFFF">
              <a:lumMod val="95000"/>
              <a:alpha val="50000"/>
            </a:sys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9" name="Text 5">
            <a:extLst>
              <a:ext uri="{FF2B5EF4-FFF2-40B4-BE49-F238E27FC236}">
                <a16:creationId xmlns:a16="http://schemas.microsoft.com/office/drawing/2014/main" id="{F3A769D1-8017-403F-4E8C-22B2BBA0C903}"/>
              </a:ext>
            </a:extLst>
          </p:cNvPr>
          <p:cNvSpPr/>
          <p:nvPr/>
        </p:nvSpPr>
        <p:spPr>
          <a:xfrm>
            <a:off x="798447" y="2898667"/>
            <a:ext cx="1731264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914400" latinLnBrk="1">
              <a:lnSpc>
                <a:spcPct val="110000"/>
              </a:lnSpc>
              <a:defRPr/>
            </a:pPr>
            <a:r>
              <a:rPr lang="en-US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Sample </a:t>
            </a:r>
          </a:p>
          <a:p>
            <a:pPr algn="ctr" defTabSz="914400" latinLnBrk="1">
              <a:lnSpc>
                <a:spcPct val="110000"/>
              </a:lnSpc>
              <a:defRPr/>
            </a:pPr>
            <a:r>
              <a:rPr lang="en-US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preparation</a:t>
            </a:r>
            <a:endParaRPr lang="en-US" sz="140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0" name="Text 7">
            <a:extLst>
              <a:ext uri="{FF2B5EF4-FFF2-40B4-BE49-F238E27FC236}">
                <a16:creationId xmlns:a16="http://schemas.microsoft.com/office/drawing/2014/main" id="{32F360FF-9C3C-83B9-1249-D29DBA5B6A0C}"/>
              </a:ext>
            </a:extLst>
          </p:cNvPr>
          <p:cNvSpPr/>
          <p:nvPr/>
        </p:nvSpPr>
        <p:spPr>
          <a:xfrm>
            <a:off x="898582" y="3484295"/>
            <a:ext cx="1530995" cy="920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00">
              <a:lnSpc>
                <a:spcPct val="130000"/>
              </a:lnSpc>
              <a:defRPr/>
            </a:pPr>
            <a:r>
              <a:rPr lang="en-US" altLang="ko-KR" sz="1200" b="1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Protein </a:t>
            </a:r>
          </a:p>
          <a:p>
            <a:pPr algn="ctr" defTabSz="914400">
              <a:lnSpc>
                <a:spcPct val="130000"/>
              </a:lnSpc>
              <a:defRPr/>
            </a:pPr>
            <a:r>
              <a:rPr lang="en-US" sz="1200" b="1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Extraction</a:t>
            </a:r>
          </a:p>
        </p:txBody>
      </p:sp>
      <p:sp>
        <p:nvSpPr>
          <p:cNvPr id="131" name="Text 9">
            <a:extLst>
              <a:ext uri="{FF2B5EF4-FFF2-40B4-BE49-F238E27FC236}">
                <a16:creationId xmlns:a16="http://schemas.microsoft.com/office/drawing/2014/main" id="{B723A75A-8A64-4FE6-261F-4D1942FBDED1}"/>
              </a:ext>
            </a:extLst>
          </p:cNvPr>
          <p:cNvSpPr/>
          <p:nvPr/>
        </p:nvSpPr>
        <p:spPr>
          <a:xfrm>
            <a:off x="913665" y="4731280"/>
            <a:ext cx="1500829" cy="613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00" latinLnBrk="1">
              <a:lnSpc>
                <a:spcPct val="130000"/>
              </a:lnSpc>
              <a:defRPr/>
            </a:pPr>
            <a:r>
              <a:rPr lang="en-US" sz="1200" i="1" dirty="0">
                <a:solidFill>
                  <a:srgbClr val="7F8C8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Reduction of </a:t>
            </a:r>
          </a:p>
          <a:p>
            <a:pPr algn="ctr" defTabSz="914400" latinLnBrk="1">
              <a:lnSpc>
                <a:spcPct val="130000"/>
              </a:lnSpc>
              <a:defRPr/>
            </a:pPr>
            <a:r>
              <a:rPr lang="en-US" sz="1200" i="1" dirty="0">
                <a:solidFill>
                  <a:srgbClr val="7F8C8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Sample complexity</a:t>
            </a:r>
            <a:endParaRPr lang="en-US" sz="1200" dirty="0">
              <a:solidFill>
                <a:prstClr val="black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2" name="Shape 8">
            <a:extLst>
              <a:ext uri="{FF2B5EF4-FFF2-40B4-BE49-F238E27FC236}">
                <a16:creationId xmlns:a16="http://schemas.microsoft.com/office/drawing/2014/main" id="{0866D4E4-E458-9237-E5DF-DECD570B7E5C}"/>
              </a:ext>
            </a:extLst>
          </p:cNvPr>
          <p:cNvSpPr/>
          <p:nvPr/>
        </p:nvSpPr>
        <p:spPr>
          <a:xfrm>
            <a:off x="1027364" y="4529652"/>
            <a:ext cx="1273431" cy="0"/>
          </a:xfrm>
          <a:prstGeom prst="line">
            <a:avLst/>
          </a:prstGeom>
          <a:noFill/>
          <a:ln w="6350">
            <a:solidFill>
              <a:sysClr val="window" lastClr="FFFFFF">
                <a:lumMod val="50000"/>
                <a:alpha val="58000"/>
              </a:sysClr>
            </a:solidFill>
            <a:prstDash val="solid"/>
          </a:ln>
        </p:spPr>
        <p:txBody>
          <a:bodyPr/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33" name="그림 132">
            <a:extLst>
              <a:ext uri="{FF2B5EF4-FFF2-40B4-BE49-F238E27FC236}">
                <a16:creationId xmlns:a16="http://schemas.microsoft.com/office/drawing/2014/main" id="{44B6DE06-CE97-EFED-E181-2C126AA92D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8265" r="82830" b="41745"/>
          <a:stretch>
            <a:fillRect/>
          </a:stretch>
        </p:blipFill>
        <p:spPr>
          <a:xfrm>
            <a:off x="1263139" y="2277737"/>
            <a:ext cx="801881" cy="622379"/>
          </a:xfrm>
          <a:prstGeom prst="rect">
            <a:avLst/>
          </a:prstGeom>
        </p:spPr>
      </p:pic>
      <p:sp>
        <p:nvSpPr>
          <p:cNvPr id="134" name="모서리가 둥근 직사각형 7">
            <a:extLst>
              <a:ext uri="{FF2B5EF4-FFF2-40B4-BE49-F238E27FC236}">
                <a16:creationId xmlns:a16="http://schemas.microsoft.com/office/drawing/2014/main" id="{5762CC7A-952D-477C-556A-F515A7B1FBF0}"/>
              </a:ext>
            </a:extLst>
          </p:cNvPr>
          <p:cNvSpPr>
            <a:spLocks/>
          </p:cNvSpPr>
          <p:nvPr/>
        </p:nvSpPr>
        <p:spPr>
          <a:xfrm>
            <a:off x="2600890" y="2045307"/>
            <a:ext cx="1672872" cy="3471720"/>
          </a:xfrm>
          <a:prstGeom prst="roundRect">
            <a:avLst>
              <a:gd name="adj" fmla="val 4526"/>
            </a:avLst>
          </a:prstGeom>
          <a:solidFill>
            <a:sysClr val="window" lastClr="FFFFFF"/>
          </a:solidFill>
          <a:ln w="12700" cap="flat" cmpd="sng" algn="ctr">
            <a:gradFill>
              <a:gsLst>
                <a:gs pos="0">
                  <a:sysClr val="window" lastClr="FFFFFF"/>
                </a:gs>
                <a:gs pos="37000">
                  <a:sysClr val="window" lastClr="FFFFFF">
                    <a:lumMod val="85000"/>
                  </a:sysClr>
                </a:gs>
                <a:gs pos="99000">
                  <a:sysClr val="window" lastClr="FFFFFF">
                    <a:lumMod val="85000"/>
                  </a:sysClr>
                </a:gs>
                <a:gs pos="69000">
                  <a:sysClr val="window" lastClr="FFFFFF">
                    <a:lumMod val="95000"/>
                  </a:sysClr>
                </a:gs>
              </a:gsLst>
              <a:lin ang="2700000" scaled="0"/>
            </a:gradFill>
            <a:prstDash val="solid"/>
            <a:miter lim="800000"/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5" name="사각형: 둥근 모서리 134">
            <a:extLst>
              <a:ext uri="{FF2B5EF4-FFF2-40B4-BE49-F238E27FC236}">
                <a16:creationId xmlns:a16="http://schemas.microsoft.com/office/drawing/2014/main" id="{F7A10A62-E1F3-0573-4B43-55EE6D48A649}"/>
              </a:ext>
            </a:extLst>
          </p:cNvPr>
          <p:cNvSpPr/>
          <p:nvPr/>
        </p:nvSpPr>
        <p:spPr>
          <a:xfrm>
            <a:off x="2657716" y="3466586"/>
            <a:ext cx="1582387" cy="1983534"/>
          </a:xfrm>
          <a:prstGeom prst="roundRect">
            <a:avLst>
              <a:gd name="adj" fmla="val 4687"/>
            </a:avLst>
          </a:prstGeom>
          <a:solidFill>
            <a:sysClr val="window" lastClr="FFFFFF">
              <a:lumMod val="95000"/>
              <a:alpha val="50000"/>
            </a:sys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6" name="Text 14">
            <a:extLst>
              <a:ext uri="{FF2B5EF4-FFF2-40B4-BE49-F238E27FC236}">
                <a16:creationId xmlns:a16="http://schemas.microsoft.com/office/drawing/2014/main" id="{19633E6D-D763-2BF0-B625-2A3906EEBBF2}"/>
              </a:ext>
            </a:extLst>
          </p:cNvPr>
          <p:cNvSpPr/>
          <p:nvPr/>
        </p:nvSpPr>
        <p:spPr>
          <a:xfrm>
            <a:off x="2546068" y="2898667"/>
            <a:ext cx="1731264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914400" latinLnBrk="1">
              <a:defRPr/>
            </a:pPr>
            <a:r>
              <a:rPr lang="en-US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Digestion</a:t>
            </a:r>
            <a:endParaRPr lang="en-US" sz="140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7" name="Text 16">
            <a:extLst>
              <a:ext uri="{FF2B5EF4-FFF2-40B4-BE49-F238E27FC236}">
                <a16:creationId xmlns:a16="http://schemas.microsoft.com/office/drawing/2014/main" id="{6869B4F6-1C4B-5D17-8EC1-84550CDCB821}"/>
              </a:ext>
            </a:extLst>
          </p:cNvPr>
          <p:cNvSpPr/>
          <p:nvPr/>
        </p:nvSpPr>
        <p:spPr>
          <a:xfrm>
            <a:off x="2670095" y="3484295"/>
            <a:ext cx="1530996" cy="920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00">
              <a:lnSpc>
                <a:spcPct val="130000"/>
              </a:lnSpc>
              <a:defRPr/>
            </a:pPr>
            <a:r>
              <a:rPr lang="en-US" sz="1200" b="1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Trypsin </a:t>
            </a:r>
          </a:p>
          <a:p>
            <a:pPr algn="ctr" defTabSz="914400">
              <a:lnSpc>
                <a:spcPct val="130000"/>
              </a:lnSpc>
              <a:defRPr/>
            </a:pPr>
            <a:r>
              <a:rPr lang="en-US" sz="1200" b="1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Digestion (peptide)</a:t>
            </a:r>
          </a:p>
        </p:txBody>
      </p:sp>
      <p:sp>
        <p:nvSpPr>
          <p:cNvPr id="138" name="Text 18">
            <a:extLst>
              <a:ext uri="{FF2B5EF4-FFF2-40B4-BE49-F238E27FC236}">
                <a16:creationId xmlns:a16="http://schemas.microsoft.com/office/drawing/2014/main" id="{4D0512D2-B7FC-5761-B1E7-C7F5EDC6E59D}"/>
              </a:ext>
            </a:extLst>
          </p:cNvPr>
          <p:cNvSpPr/>
          <p:nvPr/>
        </p:nvSpPr>
        <p:spPr>
          <a:xfrm>
            <a:off x="2685179" y="4731280"/>
            <a:ext cx="1500829" cy="613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00" latinLnBrk="1">
              <a:lnSpc>
                <a:spcPct val="130000"/>
              </a:lnSpc>
              <a:defRPr/>
            </a:pPr>
            <a:endParaRPr lang="en-US" sz="1200" i="1" dirty="0">
              <a:solidFill>
                <a:srgbClr val="7F8C8D"/>
              </a:solidFill>
              <a:latin typeface="맑은 고딕" panose="02110004020202020204"/>
              <a:ea typeface="Pretendard" panose="02000503000000020004" pitchFamily="50" charset="-127"/>
            </a:endParaRPr>
          </a:p>
        </p:txBody>
      </p:sp>
      <p:sp>
        <p:nvSpPr>
          <p:cNvPr id="139" name="Shape 17">
            <a:extLst>
              <a:ext uri="{FF2B5EF4-FFF2-40B4-BE49-F238E27FC236}">
                <a16:creationId xmlns:a16="http://schemas.microsoft.com/office/drawing/2014/main" id="{0AB106CF-D90F-5339-28BB-4613D6D69AA4}"/>
              </a:ext>
            </a:extLst>
          </p:cNvPr>
          <p:cNvSpPr/>
          <p:nvPr/>
        </p:nvSpPr>
        <p:spPr>
          <a:xfrm>
            <a:off x="2798878" y="4529652"/>
            <a:ext cx="1273431" cy="0"/>
          </a:xfrm>
          <a:prstGeom prst="line">
            <a:avLst/>
          </a:prstGeom>
          <a:noFill/>
          <a:ln w="6350">
            <a:solidFill>
              <a:sysClr val="window" lastClr="FFFFFF">
                <a:lumMod val="50000"/>
                <a:alpha val="58000"/>
              </a:sysClr>
            </a:solidFill>
            <a:prstDash val="solid"/>
          </a:ln>
        </p:spPr>
        <p:txBody>
          <a:bodyPr/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40" name="그림 139">
            <a:extLst>
              <a:ext uri="{FF2B5EF4-FFF2-40B4-BE49-F238E27FC236}">
                <a16:creationId xmlns:a16="http://schemas.microsoft.com/office/drawing/2014/main" id="{194575DE-5ADC-0859-0CD3-269D4F4EBA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592" t="36320" r="65578" b="42624"/>
          <a:stretch>
            <a:fillRect/>
          </a:stretch>
        </p:blipFill>
        <p:spPr>
          <a:xfrm>
            <a:off x="3021343" y="2183652"/>
            <a:ext cx="785968" cy="655589"/>
          </a:xfrm>
          <a:prstGeom prst="rect">
            <a:avLst/>
          </a:prstGeom>
        </p:spPr>
      </p:pic>
      <p:sp>
        <p:nvSpPr>
          <p:cNvPr id="141" name="모서리가 둥근 직사각형 7">
            <a:extLst>
              <a:ext uri="{FF2B5EF4-FFF2-40B4-BE49-F238E27FC236}">
                <a16:creationId xmlns:a16="http://schemas.microsoft.com/office/drawing/2014/main" id="{53ED3DCA-E882-DA9D-DA6E-F98848D2FA3A}"/>
              </a:ext>
            </a:extLst>
          </p:cNvPr>
          <p:cNvSpPr>
            <a:spLocks/>
          </p:cNvSpPr>
          <p:nvPr/>
        </p:nvSpPr>
        <p:spPr>
          <a:xfrm>
            <a:off x="4342710" y="2045307"/>
            <a:ext cx="1672872" cy="3471720"/>
          </a:xfrm>
          <a:prstGeom prst="roundRect">
            <a:avLst>
              <a:gd name="adj" fmla="val 4526"/>
            </a:avLst>
          </a:prstGeom>
          <a:solidFill>
            <a:sysClr val="window" lastClr="FFFFFF"/>
          </a:solidFill>
          <a:ln w="12700" cap="flat" cmpd="sng" algn="ctr">
            <a:gradFill>
              <a:gsLst>
                <a:gs pos="0">
                  <a:sysClr val="window" lastClr="FFFFFF"/>
                </a:gs>
                <a:gs pos="37000">
                  <a:sysClr val="window" lastClr="FFFFFF">
                    <a:lumMod val="85000"/>
                  </a:sysClr>
                </a:gs>
                <a:gs pos="99000">
                  <a:sysClr val="window" lastClr="FFFFFF">
                    <a:lumMod val="85000"/>
                  </a:sysClr>
                </a:gs>
                <a:gs pos="69000">
                  <a:sysClr val="window" lastClr="FFFFFF">
                    <a:lumMod val="95000"/>
                  </a:sysClr>
                </a:gs>
              </a:gsLst>
              <a:lin ang="2700000" scaled="0"/>
            </a:gradFill>
            <a:prstDash val="solid"/>
            <a:miter lim="800000"/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DDEF2E27-1850-812C-EB09-A46B8CABD5FD}"/>
              </a:ext>
            </a:extLst>
          </p:cNvPr>
          <p:cNvSpPr/>
          <p:nvPr/>
        </p:nvSpPr>
        <p:spPr>
          <a:xfrm>
            <a:off x="4399536" y="3466586"/>
            <a:ext cx="1582387" cy="1983534"/>
          </a:xfrm>
          <a:prstGeom prst="roundRect">
            <a:avLst>
              <a:gd name="adj" fmla="val 4687"/>
            </a:avLst>
          </a:prstGeom>
          <a:solidFill>
            <a:sysClr val="window" lastClr="FFFFFF">
              <a:lumMod val="95000"/>
              <a:alpha val="50000"/>
            </a:sys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3" name="Text 23">
            <a:extLst>
              <a:ext uri="{FF2B5EF4-FFF2-40B4-BE49-F238E27FC236}">
                <a16:creationId xmlns:a16="http://schemas.microsoft.com/office/drawing/2014/main" id="{D3D31E6C-997A-7DA4-CA4E-92BA08ED3A4F}"/>
              </a:ext>
            </a:extLst>
          </p:cNvPr>
          <p:cNvSpPr/>
          <p:nvPr/>
        </p:nvSpPr>
        <p:spPr>
          <a:xfrm>
            <a:off x="4327348" y="2898667"/>
            <a:ext cx="1731264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914400" latinLnBrk="1">
              <a:lnSpc>
                <a:spcPct val="110000"/>
              </a:lnSpc>
              <a:defRPr/>
            </a:pPr>
            <a:r>
              <a:rPr lang="en-US" altLang="ko-KR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LC-MS/MS</a:t>
            </a:r>
            <a:endParaRPr lang="en-US" sz="140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4" name="Text 25">
            <a:extLst>
              <a:ext uri="{FF2B5EF4-FFF2-40B4-BE49-F238E27FC236}">
                <a16:creationId xmlns:a16="http://schemas.microsoft.com/office/drawing/2014/main" id="{4B3B91BA-9FD7-8CD4-F834-FD40C2D324A0}"/>
              </a:ext>
            </a:extLst>
          </p:cNvPr>
          <p:cNvSpPr/>
          <p:nvPr/>
        </p:nvSpPr>
        <p:spPr>
          <a:xfrm>
            <a:off x="4421063" y="3484295"/>
            <a:ext cx="1530995" cy="920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00">
              <a:defRPr/>
            </a:pPr>
            <a:r>
              <a:rPr lang="en-US" sz="1200" b="1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110004020202020204"/>
                <a:ea typeface="Pretendard" panose="02000503000000020004" pitchFamily="50" charset="-127"/>
              </a:rPr>
              <a:t>Mass analysis</a:t>
            </a:r>
          </a:p>
        </p:txBody>
      </p:sp>
      <p:sp>
        <p:nvSpPr>
          <p:cNvPr id="145" name="Text 27">
            <a:extLst>
              <a:ext uri="{FF2B5EF4-FFF2-40B4-BE49-F238E27FC236}">
                <a16:creationId xmlns:a16="http://schemas.microsoft.com/office/drawing/2014/main" id="{A4A5B385-4642-E918-3475-70AAC00A68C5}"/>
              </a:ext>
            </a:extLst>
          </p:cNvPr>
          <p:cNvSpPr/>
          <p:nvPr/>
        </p:nvSpPr>
        <p:spPr>
          <a:xfrm>
            <a:off x="4436146" y="4674432"/>
            <a:ext cx="1500829" cy="613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00" latinLnBrk="1">
              <a:lnSpc>
                <a:spcPct val="130000"/>
              </a:lnSpc>
              <a:defRPr/>
            </a:pPr>
            <a:r>
              <a:rPr lang="en-US" sz="1200" i="1" dirty="0">
                <a:solidFill>
                  <a:srgbClr val="7F8C8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Generation of </a:t>
            </a:r>
          </a:p>
          <a:p>
            <a:pPr algn="ctr" defTabSz="914400" latinLnBrk="1">
              <a:lnSpc>
                <a:spcPct val="130000"/>
              </a:lnSpc>
              <a:defRPr/>
            </a:pPr>
            <a:r>
              <a:rPr lang="en-US" sz="1200" i="1" dirty="0">
                <a:solidFill>
                  <a:srgbClr val="7F8C8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Spectrum</a:t>
            </a:r>
            <a:endParaRPr lang="en-US" sz="1200" dirty="0">
              <a:solidFill>
                <a:prstClr val="black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6" name="Shape 26">
            <a:extLst>
              <a:ext uri="{FF2B5EF4-FFF2-40B4-BE49-F238E27FC236}">
                <a16:creationId xmlns:a16="http://schemas.microsoft.com/office/drawing/2014/main" id="{068FC833-250D-E75B-6ADA-CFB63CEA6A93}"/>
              </a:ext>
            </a:extLst>
          </p:cNvPr>
          <p:cNvSpPr/>
          <p:nvPr/>
        </p:nvSpPr>
        <p:spPr>
          <a:xfrm>
            <a:off x="4549845" y="4529652"/>
            <a:ext cx="1273431" cy="0"/>
          </a:xfrm>
          <a:prstGeom prst="line">
            <a:avLst/>
          </a:prstGeom>
          <a:noFill/>
          <a:ln w="6350">
            <a:solidFill>
              <a:sysClr val="window" lastClr="FFFFFF">
                <a:lumMod val="50000"/>
                <a:alpha val="58000"/>
              </a:sysClr>
            </a:solidFill>
            <a:prstDash val="solid"/>
          </a:ln>
        </p:spPr>
        <p:txBody>
          <a:bodyPr/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47" name="그림 146">
            <a:extLst>
              <a:ext uri="{FF2B5EF4-FFF2-40B4-BE49-F238E27FC236}">
                <a16:creationId xmlns:a16="http://schemas.microsoft.com/office/drawing/2014/main" id="{D1271823-FCEB-77FD-1E52-2CF49F47D1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475" t="35491" r="50178" b="47753"/>
          <a:stretch>
            <a:fillRect/>
          </a:stretch>
        </p:blipFill>
        <p:spPr>
          <a:xfrm>
            <a:off x="4904678" y="2200956"/>
            <a:ext cx="576605" cy="521696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E650E108-174D-0B2F-38A5-AEBA7EEAA7B9}"/>
              </a:ext>
            </a:extLst>
          </p:cNvPr>
          <p:cNvGrpSpPr/>
          <p:nvPr/>
        </p:nvGrpSpPr>
        <p:grpSpPr>
          <a:xfrm>
            <a:off x="6084530" y="2045307"/>
            <a:ext cx="1672872" cy="3471720"/>
            <a:chOff x="6155096" y="2729055"/>
            <a:chExt cx="1672872" cy="3471720"/>
          </a:xfrm>
        </p:grpSpPr>
        <p:sp>
          <p:nvSpPr>
            <p:cNvPr id="149" name="모서리가 둥근 직사각형 7">
              <a:extLst>
                <a:ext uri="{FF2B5EF4-FFF2-40B4-BE49-F238E27FC236}">
                  <a16:creationId xmlns:a16="http://schemas.microsoft.com/office/drawing/2014/main" id="{2ED390B8-01DF-24BD-FFFD-071D4218331E}"/>
                </a:ext>
              </a:extLst>
            </p:cNvPr>
            <p:cNvSpPr>
              <a:spLocks/>
            </p:cNvSpPr>
            <p:nvPr/>
          </p:nvSpPr>
          <p:spPr>
            <a:xfrm>
              <a:off x="6155096" y="2729055"/>
              <a:ext cx="1672872" cy="3471720"/>
            </a:xfrm>
            <a:prstGeom prst="roundRect">
              <a:avLst>
                <a:gd name="adj" fmla="val 4526"/>
              </a:avLst>
            </a:prstGeom>
            <a:solidFill>
              <a:sysClr val="window" lastClr="FFFFFF"/>
            </a:solidFill>
            <a:ln w="12700" cap="flat" cmpd="sng" algn="ctr">
              <a:gradFill>
                <a:gsLst>
                  <a:gs pos="0">
                    <a:sysClr val="window" lastClr="FFFFFF"/>
                  </a:gs>
                  <a:gs pos="37000">
                    <a:sysClr val="window" lastClr="FFFFFF">
                      <a:lumMod val="85000"/>
                    </a:sysClr>
                  </a:gs>
                  <a:gs pos="99000">
                    <a:sysClr val="window" lastClr="FFFFFF">
                      <a:lumMod val="85000"/>
                    </a:sysClr>
                  </a:gs>
                  <a:gs pos="69000">
                    <a:sysClr val="window" lastClr="FFFFFF">
                      <a:lumMod val="95000"/>
                    </a:sysClr>
                  </a:gs>
                </a:gsLst>
                <a:lin ang="2700000" scaled="0"/>
              </a:gradFill>
              <a:prstDash val="solid"/>
              <a:miter lim="800000"/>
            </a:ln>
            <a:effectLst>
              <a:outerShdw blurRad="312382" sx="102308" sy="102308" algn="ctr" rotWithShape="0">
                <a:prstClr val="black">
                  <a:alpha val="11221"/>
                </a:prstClr>
              </a:outerShdw>
              <a:reflection endPos="0" dist="50800" dir="5400000" sy="-100000" algn="bl" rotWithShape="0"/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50" name="사각형: 둥근 모서리 149">
              <a:extLst>
                <a:ext uri="{FF2B5EF4-FFF2-40B4-BE49-F238E27FC236}">
                  <a16:creationId xmlns:a16="http://schemas.microsoft.com/office/drawing/2014/main" id="{4FC6F849-8D48-C88E-3505-62BCFAC071D2}"/>
                </a:ext>
              </a:extLst>
            </p:cNvPr>
            <p:cNvSpPr/>
            <p:nvPr/>
          </p:nvSpPr>
          <p:spPr>
            <a:xfrm>
              <a:off x="6211922" y="4150334"/>
              <a:ext cx="1582387" cy="1983534"/>
            </a:xfrm>
            <a:prstGeom prst="roundRect">
              <a:avLst>
                <a:gd name="adj" fmla="val 4687"/>
              </a:avLst>
            </a:prstGeom>
            <a:solidFill>
              <a:sysClr val="window" lastClr="FFFFFF">
                <a:lumMod val="95000"/>
                <a:alpha val="50000"/>
              </a:sys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51" name="Text 32">
              <a:extLst>
                <a:ext uri="{FF2B5EF4-FFF2-40B4-BE49-F238E27FC236}">
                  <a16:creationId xmlns:a16="http://schemas.microsoft.com/office/drawing/2014/main" id="{2934DBFF-D213-9E40-B602-2FBD3820B1FD}"/>
                </a:ext>
              </a:extLst>
            </p:cNvPr>
            <p:cNvSpPr/>
            <p:nvPr/>
          </p:nvSpPr>
          <p:spPr>
            <a:xfrm>
              <a:off x="6169152" y="3582415"/>
              <a:ext cx="1646204" cy="670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b="1" kern="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Search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52" name="Text 34">
              <a:extLst>
                <a:ext uri="{FF2B5EF4-FFF2-40B4-BE49-F238E27FC236}">
                  <a16:creationId xmlns:a16="http://schemas.microsoft.com/office/drawing/2014/main" id="{6B9F2DD6-7883-71F4-B523-CF0EE460BB4E}"/>
                </a:ext>
              </a:extLst>
            </p:cNvPr>
            <p:cNvSpPr/>
            <p:nvPr/>
          </p:nvSpPr>
          <p:spPr>
            <a:xfrm>
              <a:off x="6242595" y="4168043"/>
              <a:ext cx="1530995" cy="9200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Peptide </a:t>
              </a: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i</a:t>
              </a: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dentification </a:t>
              </a:r>
            </a:p>
          </p:txBody>
        </p:sp>
        <p:sp>
          <p:nvSpPr>
            <p:cNvPr id="153" name="Text 36">
              <a:extLst>
                <a:ext uri="{FF2B5EF4-FFF2-40B4-BE49-F238E27FC236}">
                  <a16:creationId xmlns:a16="http://schemas.microsoft.com/office/drawing/2014/main" id="{6404708A-30BB-AC10-60BE-2FC8B86D46D3}"/>
                </a:ext>
              </a:extLst>
            </p:cNvPr>
            <p:cNvSpPr/>
            <p:nvPr/>
          </p:nvSpPr>
          <p:spPr>
            <a:xfrm>
              <a:off x="6257678" y="5358180"/>
              <a:ext cx="1500829" cy="6133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eaLnBrk="1" fontAlgn="auto" latinLnBrk="1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7F8C8D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“Which peptide?”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54" name="Shape 35">
              <a:extLst>
                <a:ext uri="{FF2B5EF4-FFF2-40B4-BE49-F238E27FC236}">
                  <a16:creationId xmlns:a16="http://schemas.microsoft.com/office/drawing/2014/main" id="{858E66A7-2BB2-437D-474E-32A78D8F94E0}"/>
                </a:ext>
              </a:extLst>
            </p:cNvPr>
            <p:cNvSpPr/>
            <p:nvPr/>
          </p:nvSpPr>
          <p:spPr>
            <a:xfrm>
              <a:off x="6371377" y="5213400"/>
              <a:ext cx="1273431" cy="0"/>
            </a:xfrm>
            <a:prstGeom prst="line">
              <a:avLst/>
            </a:prstGeom>
            <a:noFill/>
            <a:ln w="6350">
              <a:solidFill>
                <a:sysClr val="window" lastClr="FFFFFF">
                  <a:lumMod val="50000"/>
                  <a:alpha val="58000"/>
                </a:sysClr>
              </a:solidFill>
              <a:prstDash val="solid"/>
            </a:ln>
          </p:spPr>
          <p:txBody>
            <a:bodyPr/>
            <a:lstStyle/>
            <a:p>
              <a:pPr marL="0" marR="0" lvl="0" indent="0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pic>
          <p:nvPicPr>
            <p:cNvPr id="155" name="그림 154">
              <a:extLst>
                <a:ext uri="{FF2B5EF4-FFF2-40B4-BE49-F238E27FC236}">
                  <a16:creationId xmlns:a16="http://schemas.microsoft.com/office/drawing/2014/main" id="{427E2EE3-E854-B077-0E89-C7925625A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2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516" t="33392" r="31408" b="42339"/>
            <a:stretch>
              <a:fillRect/>
            </a:stretch>
          </p:blipFill>
          <p:spPr>
            <a:xfrm>
              <a:off x="6640217" y="2806767"/>
              <a:ext cx="704074" cy="755590"/>
            </a:xfrm>
            <a:prstGeom prst="rect">
              <a:avLst/>
            </a:prstGeom>
          </p:spPr>
        </p:pic>
      </p:grpSp>
      <p:grpSp>
        <p:nvGrpSpPr>
          <p:cNvPr id="156" name="그룹 155">
            <a:extLst>
              <a:ext uri="{FF2B5EF4-FFF2-40B4-BE49-F238E27FC236}">
                <a16:creationId xmlns:a16="http://schemas.microsoft.com/office/drawing/2014/main" id="{C582A2B7-050D-3A3C-12A2-C72A6A1F330A}"/>
              </a:ext>
            </a:extLst>
          </p:cNvPr>
          <p:cNvGrpSpPr/>
          <p:nvPr/>
        </p:nvGrpSpPr>
        <p:grpSpPr>
          <a:xfrm>
            <a:off x="7826350" y="2045307"/>
            <a:ext cx="1672872" cy="3471720"/>
            <a:chOff x="7896916" y="2729055"/>
            <a:chExt cx="1672872" cy="3471720"/>
          </a:xfrm>
        </p:grpSpPr>
        <p:sp>
          <p:nvSpPr>
            <p:cNvPr id="157" name="모서리가 둥근 직사각형 7">
              <a:extLst>
                <a:ext uri="{FF2B5EF4-FFF2-40B4-BE49-F238E27FC236}">
                  <a16:creationId xmlns:a16="http://schemas.microsoft.com/office/drawing/2014/main" id="{2CDCE611-8034-A47A-E47E-7A9DF3D164C0}"/>
                </a:ext>
              </a:extLst>
            </p:cNvPr>
            <p:cNvSpPr>
              <a:spLocks/>
            </p:cNvSpPr>
            <p:nvPr/>
          </p:nvSpPr>
          <p:spPr>
            <a:xfrm>
              <a:off x="7896916" y="2729055"/>
              <a:ext cx="1672872" cy="3471720"/>
            </a:xfrm>
            <a:prstGeom prst="roundRect">
              <a:avLst>
                <a:gd name="adj" fmla="val 4526"/>
              </a:avLst>
            </a:prstGeom>
            <a:solidFill>
              <a:sysClr val="window" lastClr="FFFFFF"/>
            </a:solidFill>
            <a:ln w="12700" cap="flat" cmpd="sng" algn="ctr">
              <a:gradFill>
                <a:gsLst>
                  <a:gs pos="0">
                    <a:sysClr val="window" lastClr="FFFFFF"/>
                  </a:gs>
                  <a:gs pos="37000">
                    <a:sysClr val="window" lastClr="FFFFFF">
                      <a:lumMod val="85000"/>
                    </a:sysClr>
                  </a:gs>
                  <a:gs pos="99000">
                    <a:sysClr val="window" lastClr="FFFFFF">
                      <a:lumMod val="85000"/>
                    </a:sysClr>
                  </a:gs>
                  <a:gs pos="69000">
                    <a:sysClr val="window" lastClr="FFFFFF">
                      <a:lumMod val="95000"/>
                    </a:sysClr>
                  </a:gs>
                </a:gsLst>
                <a:lin ang="2700000" scaled="0"/>
              </a:gradFill>
              <a:prstDash val="solid"/>
              <a:miter lim="800000"/>
            </a:ln>
            <a:effectLst>
              <a:outerShdw blurRad="312382" sx="102308" sy="102308" algn="ctr" rotWithShape="0">
                <a:prstClr val="black">
                  <a:alpha val="11221"/>
                </a:prstClr>
              </a:outerShdw>
              <a:reflection endPos="0" dist="50800" dir="5400000" sy="-100000" algn="bl" rotWithShape="0"/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58" name="사각형: 둥근 모서리 157">
              <a:extLst>
                <a:ext uri="{FF2B5EF4-FFF2-40B4-BE49-F238E27FC236}">
                  <a16:creationId xmlns:a16="http://schemas.microsoft.com/office/drawing/2014/main" id="{CBF79D3E-84C9-956D-7C5D-1122FA72F4F0}"/>
                </a:ext>
              </a:extLst>
            </p:cNvPr>
            <p:cNvSpPr/>
            <p:nvPr/>
          </p:nvSpPr>
          <p:spPr>
            <a:xfrm>
              <a:off x="7953742" y="4150334"/>
              <a:ext cx="1582387" cy="1983534"/>
            </a:xfrm>
            <a:prstGeom prst="roundRect">
              <a:avLst>
                <a:gd name="adj" fmla="val 4687"/>
              </a:avLst>
            </a:prstGeom>
            <a:solidFill>
              <a:sysClr val="window" lastClr="FFFFFF">
                <a:lumMod val="95000"/>
                <a:alpha val="50000"/>
              </a:sys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59" name="Text 41">
              <a:extLst>
                <a:ext uri="{FF2B5EF4-FFF2-40B4-BE49-F238E27FC236}">
                  <a16:creationId xmlns:a16="http://schemas.microsoft.com/office/drawing/2014/main" id="{0594FD60-4BCC-0CB5-3AE1-301FA50BA616}"/>
                </a:ext>
              </a:extLst>
            </p:cNvPr>
            <p:cNvSpPr/>
            <p:nvPr/>
          </p:nvSpPr>
          <p:spPr>
            <a:xfrm>
              <a:off x="7951794" y="3582415"/>
              <a:ext cx="1614528" cy="670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Quantification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60" name="Text 43">
              <a:extLst>
                <a:ext uri="{FF2B5EF4-FFF2-40B4-BE49-F238E27FC236}">
                  <a16:creationId xmlns:a16="http://schemas.microsoft.com/office/drawing/2014/main" id="{7D2E8FD8-CF0E-3D23-659A-DC62B73AEAC2}"/>
                </a:ext>
              </a:extLst>
            </p:cNvPr>
            <p:cNvSpPr/>
            <p:nvPr/>
          </p:nvSpPr>
          <p:spPr>
            <a:xfrm>
              <a:off x="7993562" y="4168043"/>
              <a:ext cx="1530995" cy="9200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Protein inference</a:t>
              </a:r>
            </a:p>
          </p:txBody>
        </p:sp>
        <p:sp>
          <p:nvSpPr>
            <p:cNvPr id="161" name="Text 45">
              <a:extLst>
                <a:ext uri="{FF2B5EF4-FFF2-40B4-BE49-F238E27FC236}">
                  <a16:creationId xmlns:a16="http://schemas.microsoft.com/office/drawing/2014/main" id="{B73B3C08-F18F-D578-FD98-BD11760DF321}"/>
                </a:ext>
              </a:extLst>
            </p:cNvPr>
            <p:cNvSpPr/>
            <p:nvPr/>
          </p:nvSpPr>
          <p:spPr>
            <a:xfrm>
              <a:off x="8008645" y="5358180"/>
              <a:ext cx="1500829" cy="6133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eaLnBrk="1" fontAlgn="auto" latinLnBrk="1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7F8C8D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“How much?”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62" name="Shape 44">
              <a:extLst>
                <a:ext uri="{FF2B5EF4-FFF2-40B4-BE49-F238E27FC236}">
                  <a16:creationId xmlns:a16="http://schemas.microsoft.com/office/drawing/2014/main" id="{403FFD8C-9E0B-F28C-5FB9-EC1AA481E117}"/>
                </a:ext>
              </a:extLst>
            </p:cNvPr>
            <p:cNvSpPr/>
            <p:nvPr/>
          </p:nvSpPr>
          <p:spPr>
            <a:xfrm>
              <a:off x="8122344" y="5213400"/>
              <a:ext cx="1273431" cy="0"/>
            </a:xfrm>
            <a:prstGeom prst="line">
              <a:avLst/>
            </a:prstGeom>
            <a:noFill/>
            <a:ln w="6350">
              <a:solidFill>
                <a:sysClr val="window" lastClr="FFFFFF">
                  <a:lumMod val="50000"/>
                  <a:alpha val="58000"/>
                </a:sysClr>
              </a:solidFill>
              <a:prstDash val="solid"/>
            </a:ln>
          </p:spPr>
          <p:txBody>
            <a:bodyPr/>
            <a:lstStyle/>
            <a:p>
              <a:pPr marL="0" marR="0" lvl="0" indent="0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pic>
          <p:nvPicPr>
            <p:cNvPr id="163" name="그림 162">
              <a:extLst>
                <a:ext uri="{FF2B5EF4-FFF2-40B4-BE49-F238E27FC236}">
                  <a16:creationId xmlns:a16="http://schemas.microsoft.com/office/drawing/2014/main" id="{C70D167D-3C99-3092-C3C4-B5887FF48E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2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8565" t="38317" r="18981" b="40666"/>
            <a:stretch>
              <a:fillRect/>
            </a:stretch>
          </p:blipFill>
          <p:spPr>
            <a:xfrm>
              <a:off x="8426609" y="2953435"/>
              <a:ext cx="581632" cy="654361"/>
            </a:xfrm>
            <a:prstGeom prst="rect">
              <a:avLst/>
            </a:prstGeom>
          </p:spPr>
        </p:pic>
      </p:grpSp>
      <p:grpSp>
        <p:nvGrpSpPr>
          <p:cNvPr id="164" name="그룹 163">
            <a:extLst>
              <a:ext uri="{FF2B5EF4-FFF2-40B4-BE49-F238E27FC236}">
                <a16:creationId xmlns:a16="http://schemas.microsoft.com/office/drawing/2014/main" id="{4BB5EC8D-909A-8AD6-3A48-57252A798473}"/>
              </a:ext>
            </a:extLst>
          </p:cNvPr>
          <p:cNvGrpSpPr/>
          <p:nvPr/>
        </p:nvGrpSpPr>
        <p:grpSpPr>
          <a:xfrm>
            <a:off x="9568172" y="2045307"/>
            <a:ext cx="1678551" cy="3471720"/>
            <a:chOff x="9638738" y="2729055"/>
            <a:chExt cx="1678551" cy="3471720"/>
          </a:xfrm>
        </p:grpSpPr>
        <p:sp>
          <p:nvSpPr>
            <p:cNvPr id="165" name="모서리가 둥근 직사각형 7">
              <a:extLst>
                <a:ext uri="{FF2B5EF4-FFF2-40B4-BE49-F238E27FC236}">
                  <a16:creationId xmlns:a16="http://schemas.microsoft.com/office/drawing/2014/main" id="{2D64EE9E-853C-2C66-4749-EFF890112320}"/>
                </a:ext>
              </a:extLst>
            </p:cNvPr>
            <p:cNvSpPr>
              <a:spLocks/>
            </p:cNvSpPr>
            <p:nvPr/>
          </p:nvSpPr>
          <p:spPr>
            <a:xfrm>
              <a:off x="9638738" y="2729055"/>
              <a:ext cx="1672872" cy="3471720"/>
            </a:xfrm>
            <a:prstGeom prst="roundRect">
              <a:avLst>
                <a:gd name="adj" fmla="val 4526"/>
              </a:avLst>
            </a:prstGeom>
            <a:solidFill>
              <a:sysClr val="window" lastClr="FFFFFF"/>
            </a:solidFill>
            <a:ln w="12700" cap="flat" cmpd="sng" algn="ctr">
              <a:gradFill>
                <a:gsLst>
                  <a:gs pos="0">
                    <a:sysClr val="window" lastClr="FFFFFF"/>
                  </a:gs>
                  <a:gs pos="37000">
                    <a:sysClr val="window" lastClr="FFFFFF">
                      <a:lumMod val="85000"/>
                    </a:sysClr>
                  </a:gs>
                  <a:gs pos="99000">
                    <a:sysClr val="window" lastClr="FFFFFF">
                      <a:lumMod val="85000"/>
                    </a:sysClr>
                  </a:gs>
                  <a:gs pos="69000">
                    <a:sysClr val="window" lastClr="FFFFFF">
                      <a:lumMod val="95000"/>
                    </a:sysClr>
                  </a:gs>
                </a:gsLst>
                <a:lin ang="2700000" scaled="0"/>
              </a:gradFill>
              <a:prstDash val="solid"/>
              <a:miter lim="800000"/>
            </a:ln>
            <a:effectLst>
              <a:outerShdw blurRad="312382" sx="102308" sy="102308" algn="ctr" rotWithShape="0">
                <a:prstClr val="black">
                  <a:alpha val="11221"/>
                </a:prstClr>
              </a:outerShdw>
              <a:reflection endPos="0" dist="50800" dir="5400000" sy="-100000" algn="bl" rotWithShape="0"/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6" name="사각형: 둥근 모서리 165">
              <a:extLst>
                <a:ext uri="{FF2B5EF4-FFF2-40B4-BE49-F238E27FC236}">
                  <a16:creationId xmlns:a16="http://schemas.microsoft.com/office/drawing/2014/main" id="{AB426295-ED36-F590-A1CE-4DFBF603D0A0}"/>
                </a:ext>
              </a:extLst>
            </p:cNvPr>
            <p:cNvSpPr/>
            <p:nvPr/>
          </p:nvSpPr>
          <p:spPr>
            <a:xfrm>
              <a:off x="9695564" y="4150334"/>
              <a:ext cx="1582387" cy="1983534"/>
            </a:xfrm>
            <a:prstGeom prst="roundRect">
              <a:avLst>
                <a:gd name="adj" fmla="val 4687"/>
              </a:avLst>
            </a:prstGeom>
            <a:solidFill>
              <a:sysClr val="window" lastClr="FFFFFF">
                <a:lumMod val="95000"/>
                <a:alpha val="50000"/>
              </a:sys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7" name="Text 50">
              <a:extLst>
                <a:ext uri="{FF2B5EF4-FFF2-40B4-BE49-F238E27FC236}">
                  <a16:creationId xmlns:a16="http://schemas.microsoft.com/office/drawing/2014/main" id="{CFF11008-D18F-4ADD-EBC1-D6AD8B1CB3A3}"/>
                </a:ext>
              </a:extLst>
            </p:cNvPr>
            <p:cNvSpPr/>
            <p:nvPr/>
          </p:nvSpPr>
          <p:spPr>
            <a:xfrm>
              <a:off x="9685315" y="3582415"/>
              <a:ext cx="1631974" cy="670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marR="0" lvl="0" indent="0" algn="ctr" defTabSz="91440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Interpretation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68" name="Text 52">
              <a:extLst>
                <a:ext uri="{FF2B5EF4-FFF2-40B4-BE49-F238E27FC236}">
                  <a16:creationId xmlns:a16="http://schemas.microsoft.com/office/drawing/2014/main" id="{D74ADF06-5B04-1CD5-8E55-3DCA48A0B6B6}"/>
                </a:ext>
              </a:extLst>
            </p:cNvPr>
            <p:cNvSpPr/>
            <p:nvPr/>
          </p:nvSpPr>
          <p:spPr>
            <a:xfrm>
              <a:off x="9744528" y="4168043"/>
              <a:ext cx="1530995" cy="9200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kern="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Differential &amp;</a:t>
              </a:r>
            </a:p>
            <a:p>
              <a:pPr marL="0" marR="0" lvl="0" indent="0" algn="ctr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pathway analysis</a:t>
              </a: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69" name="Shape 53">
              <a:extLst>
                <a:ext uri="{FF2B5EF4-FFF2-40B4-BE49-F238E27FC236}">
                  <a16:creationId xmlns:a16="http://schemas.microsoft.com/office/drawing/2014/main" id="{9F26FDBE-B2DA-6412-4436-3A6EF3FAA858}"/>
                </a:ext>
              </a:extLst>
            </p:cNvPr>
            <p:cNvSpPr/>
            <p:nvPr/>
          </p:nvSpPr>
          <p:spPr>
            <a:xfrm>
              <a:off x="9873310" y="5213400"/>
              <a:ext cx="1273431" cy="0"/>
            </a:xfrm>
            <a:prstGeom prst="line">
              <a:avLst/>
            </a:prstGeom>
            <a:noFill/>
            <a:ln w="6350">
              <a:solidFill>
                <a:sysClr val="window" lastClr="FFFFFF">
                  <a:lumMod val="50000"/>
                  <a:alpha val="58000"/>
                </a:sysClr>
              </a:solidFill>
              <a:prstDash val="solid"/>
            </a:ln>
          </p:spPr>
          <p:txBody>
            <a:bodyPr/>
            <a:lstStyle/>
            <a:p>
              <a:pPr marL="0" marR="0" lvl="0" indent="0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70" name="Text 54">
              <a:extLst>
                <a:ext uri="{FF2B5EF4-FFF2-40B4-BE49-F238E27FC236}">
                  <a16:creationId xmlns:a16="http://schemas.microsoft.com/office/drawing/2014/main" id="{2FF24DB0-92D7-0B8E-7AA8-398D8D650CB7}"/>
                </a:ext>
              </a:extLst>
            </p:cNvPr>
            <p:cNvSpPr/>
            <p:nvPr/>
          </p:nvSpPr>
          <p:spPr>
            <a:xfrm>
              <a:off x="9759611" y="5358180"/>
              <a:ext cx="1500829" cy="6133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eaLnBrk="1" fontAlgn="auto" latinLnBrk="1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7F8C8D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“What changed?”</a:t>
              </a:r>
              <a:endParaRPr kumimoji="0" lang="en-US" sz="1200" b="0" i="1" u="none" strike="noStrike" kern="0" cap="none" spc="0" normalizeH="0" baseline="0" noProof="0" dirty="0">
                <a:ln>
                  <a:noFill/>
                </a:ln>
                <a:solidFill>
                  <a:srgbClr val="7F8C8D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pic>
          <p:nvPicPr>
            <p:cNvPr id="171" name="그림 170">
              <a:extLst>
                <a:ext uri="{FF2B5EF4-FFF2-40B4-BE49-F238E27FC236}">
                  <a16:creationId xmlns:a16="http://schemas.microsoft.com/office/drawing/2014/main" id="{984EFBCD-14DF-D787-EFBB-D71C805B8A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2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579" t="38746" r="2252" b="44984"/>
            <a:stretch>
              <a:fillRect/>
            </a:stretch>
          </p:blipFill>
          <p:spPr>
            <a:xfrm>
              <a:off x="10217160" y="2941932"/>
              <a:ext cx="568285" cy="506527"/>
            </a:xfrm>
            <a:prstGeom prst="rect">
              <a:avLst/>
            </a:prstGeom>
          </p:spPr>
        </p:pic>
      </p:grpSp>
      <p:sp>
        <p:nvSpPr>
          <p:cNvPr id="172" name="사각형: 둥근 모서리 171">
            <a:extLst>
              <a:ext uri="{FF2B5EF4-FFF2-40B4-BE49-F238E27FC236}">
                <a16:creationId xmlns:a16="http://schemas.microsoft.com/office/drawing/2014/main" id="{7015D141-9AD4-D90A-2EF9-B0FA47C1065E}"/>
              </a:ext>
            </a:extLst>
          </p:cNvPr>
          <p:cNvSpPr/>
          <p:nvPr/>
        </p:nvSpPr>
        <p:spPr>
          <a:xfrm>
            <a:off x="6052192" y="2050361"/>
            <a:ext cx="5200229" cy="3476191"/>
          </a:xfrm>
          <a:prstGeom prst="roundRect">
            <a:avLst>
              <a:gd name="adj" fmla="val 2013"/>
            </a:avLst>
          </a:prstGeom>
          <a:noFill/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3" name="사각형: 둥근 모서리 172">
            <a:extLst>
              <a:ext uri="{FF2B5EF4-FFF2-40B4-BE49-F238E27FC236}">
                <a16:creationId xmlns:a16="http://schemas.microsoft.com/office/drawing/2014/main" id="{4237FF94-4CF6-294C-CAAE-FCA9C6A98D55}"/>
              </a:ext>
            </a:extLst>
          </p:cNvPr>
          <p:cNvSpPr/>
          <p:nvPr/>
        </p:nvSpPr>
        <p:spPr>
          <a:xfrm>
            <a:off x="843483" y="2050361"/>
            <a:ext cx="5149614" cy="3476191"/>
          </a:xfrm>
          <a:prstGeom prst="roundRect">
            <a:avLst>
              <a:gd name="adj" fmla="val 2013"/>
            </a:avLst>
          </a:prstGeom>
          <a:noFill/>
          <a:ln w="12700" cap="flat" cmpd="sng" algn="ctr">
            <a:solidFill>
              <a:srgbClr val="297FD5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5" name="Text 27">
            <a:extLst>
              <a:ext uri="{FF2B5EF4-FFF2-40B4-BE49-F238E27FC236}">
                <a16:creationId xmlns:a16="http://schemas.microsoft.com/office/drawing/2014/main" id="{2312E703-169D-C466-699C-6FC8ABAF4648}"/>
              </a:ext>
            </a:extLst>
          </p:cNvPr>
          <p:cNvSpPr/>
          <p:nvPr/>
        </p:nvSpPr>
        <p:spPr>
          <a:xfrm>
            <a:off x="2699630" y="4693476"/>
            <a:ext cx="1500829" cy="613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00" latinLnBrk="1">
              <a:lnSpc>
                <a:spcPct val="130000"/>
              </a:lnSpc>
              <a:defRPr/>
            </a:pPr>
            <a:r>
              <a:rPr lang="en-US" sz="1200" i="1" dirty="0">
                <a:solidFill>
                  <a:srgbClr val="7F8C8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Generation of </a:t>
            </a:r>
          </a:p>
          <a:p>
            <a:pPr algn="ctr" defTabSz="914400" latinLnBrk="1">
              <a:lnSpc>
                <a:spcPct val="130000"/>
              </a:lnSpc>
              <a:defRPr/>
            </a:pPr>
            <a:r>
              <a:rPr lang="en-US" sz="1200" i="1" dirty="0">
                <a:solidFill>
                  <a:srgbClr val="7F8C8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Peptide</a:t>
            </a:r>
            <a:endParaRPr lang="en-US" sz="1200" dirty="0">
              <a:solidFill>
                <a:prstClr val="black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6" name="dim_wetlab"/>
          <p:cNvSpPr/>
          <p:nvPr/>
        </p:nvSpPr>
        <p:spPr>
          <a:xfrm>
            <a:off x="786384" y="1993392"/>
            <a:ext cx="5257800" cy="3584448"/>
          </a:xfrm>
          <a:prstGeom prst="roundRect">
            <a:avLst>
              <a:gd name="adj" fmla="val 5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ounded Rectangle 176"/>
          <p:cNvSpPr/>
          <p:nvPr/>
        </p:nvSpPr>
        <p:spPr>
          <a:xfrm>
            <a:off x="841248" y="5669280"/>
            <a:ext cx="5148072" cy="566928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100" b="1">
                <a:solidFill>
                  <a:srgbClr val="5B6B80"/>
                </a:solidFill>
                <a:latin typeface="Pretendard"/>
              </a:rPr>
              <a:t>Introduction</a:t>
            </a:r>
          </a:p>
          <a:p>
            <a:pPr algn="ctr"/>
            <a:r>
              <a:rPr sz="1000" b="0">
                <a:solidFill>
                  <a:srgbClr val="5B6B80"/>
                </a:solidFill>
                <a:latin typeface="Pretendard"/>
              </a:rPr>
              <a:t>Sample preparation to spectra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6080760" y="5669280"/>
            <a:ext cx="1673352" cy="56692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100" b="1">
                <a:solidFill>
                  <a:srgbClr val="1FA7E1"/>
                </a:solidFill>
                <a:latin typeface="Pretendard"/>
              </a:rPr>
              <a:t>Part 01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Pretendard"/>
              </a:rPr>
              <a:t>LC-MS Data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7827264" y="5669280"/>
            <a:ext cx="1673352" cy="56692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100" b="1">
                <a:solidFill>
                  <a:srgbClr val="1FA7E1"/>
                </a:solidFill>
                <a:latin typeface="Pretendard"/>
              </a:rPr>
              <a:t>Part 02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Pretendard"/>
              </a:rPr>
              <a:t>Preprocessing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9564624" y="5669280"/>
            <a:ext cx="1673352" cy="56692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100" b="1">
                <a:solidFill>
                  <a:srgbClr val="1FA7E1"/>
                </a:solidFill>
                <a:latin typeface="Pretendard"/>
              </a:rPr>
              <a:t>Part 03 · 04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Pretendard"/>
              </a:rPr>
              <a:t>Downstream · Hands-on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LC-MS proteomics data: structure, workflow, and key tools</a:t>
            </a:r>
          </a:p>
        </p:txBody>
      </p:sp>
      <p:sp>
        <p:nvSpPr>
          <p:cNvPr id="29" name="슬라이드 번호 개체 틀 8">
            <a:extLst>
              <a:ext uri="{FF2B5EF4-FFF2-40B4-BE49-F238E27FC236}">
                <a16:creationId xmlns:a16="http://schemas.microsoft.com/office/drawing/2014/main" id="{D50649B0-8C95-ACB8-E146-F4DACBF93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9433" y="6435007"/>
            <a:ext cx="2743200" cy="365125"/>
          </a:xfrm>
        </p:spPr>
        <p:txBody>
          <a:bodyPr/>
          <a:lstStyle/>
          <a:p>
            <a:fld id="{8829373E-CD8E-4DEB-9966-45D0690BCFEE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30" name="Rounded Rectangle 29"/>
          <p:cNvSpPr/>
          <p:nvPr/>
        </p:nvSpPr>
        <p:spPr>
          <a:xfrm>
            <a:off x="896112" y="2240280"/>
            <a:ext cx="2436876" cy="1051560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" y="2331720"/>
            <a:ext cx="777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200" b="1" i="0">
                <a:solidFill>
                  <a:srgbClr val="1FA7E1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10512" y="2395728"/>
            <a:ext cx="143103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LC-MS Data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112" y="3429000"/>
            <a:ext cx="2436876" cy="269748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91440" bIns="91440" wrap="square"/>
          <a:lstStyle/>
          <a:p>
            <a:pPr algn="l" marL="155448" indent="-155448">
              <a:spcAft>
                <a:spcPts val="1000"/>
              </a:spcAft>
              <a:buClr>
                <a:srgbClr val="1FA7E1"/>
              </a:buClr>
              <a:buFont typeface="Arial"/>
              <a:buChar char="•"/>
            </a:pPr>
            <a:r>
              <a:rPr sz="125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Raw data structure</a:t>
            </a:r>
          </a:p>
          <a:p>
            <a:pPr algn="l" marL="155448" indent="-155448">
              <a:spcAft>
                <a:spcPts val="1000"/>
              </a:spcAft>
              <a:buClr>
                <a:srgbClr val="1FA7E1"/>
              </a:buClr>
              <a:buFont typeface="Arial"/>
              <a:buChar char="•"/>
            </a:pPr>
            <a:r>
              <a:rPr sz="125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Acquisition · PSM</a:t>
            </a:r>
          </a:p>
          <a:p>
            <a:pPr algn="l" marL="155448" indent="-155448">
              <a:spcAft>
                <a:spcPts val="1000"/>
              </a:spcAft>
              <a:buClr>
                <a:srgbClr val="1FA7E1"/>
              </a:buClr>
              <a:buFont typeface="Arial"/>
              <a:buChar char="•"/>
            </a:pPr>
            <a:r>
              <a:rPr sz="125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Peptide → protein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52444" y="2240280"/>
            <a:ext cx="2436876" cy="1051560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35324" y="2331720"/>
            <a:ext cx="777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200" b="1" i="0">
                <a:solidFill>
                  <a:srgbClr val="1FA7E1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66844" y="2395728"/>
            <a:ext cx="143103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Preprocessing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552444" y="3429000"/>
            <a:ext cx="2436876" cy="269748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91440" bIns="91440" wrap="square"/>
          <a:lstStyle/>
          <a:p>
            <a:pPr algn="l" marL="155448" indent="-155448">
              <a:spcAft>
                <a:spcPts val="1000"/>
              </a:spcAft>
              <a:buClr>
                <a:srgbClr val="1FA7E1"/>
              </a:buClr>
              <a:buFont typeface="Arial"/>
              <a:buChar char="•"/>
            </a:pPr>
            <a:r>
              <a:rPr sz="125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Tools for each step</a:t>
            </a:r>
          </a:p>
          <a:p>
            <a:pPr algn="l" marL="155448" indent="-155448">
              <a:spcAft>
                <a:spcPts val="1000"/>
              </a:spcAft>
              <a:buClr>
                <a:srgbClr val="1FA7E1"/>
              </a:buClr>
              <a:buFont typeface="Arial"/>
              <a:buChar char="•"/>
            </a:pPr>
            <a:r>
              <a:rPr sz="125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Filtering · normalization</a:t>
            </a:r>
          </a:p>
          <a:p>
            <a:pPr algn="l" marL="155448" indent="-155448">
              <a:spcAft>
                <a:spcPts val="1000"/>
              </a:spcAft>
              <a:buClr>
                <a:srgbClr val="1FA7E1"/>
              </a:buClr>
              <a:buFont typeface="Arial"/>
              <a:buChar char="•"/>
            </a:pPr>
            <a:r>
              <a:rPr sz="125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Imputation (if needed)</a:t>
            </a:r>
          </a:p>
          <a:p>
            <a:pPr algn="l" marL="155448" indent="-155448">
              <a:spcAft>
                <a:spcPts val="1000"/>
              </a:spcAft>
              <a:buClr>
                <a:srgbClr val="1FA7E1"/>
              </a:buClr>
              <a:buFont typeface="Arial"/>
              <a:buChar char="•"/>
            </a:pPr>
            <a:r>
              <a:rPr sz="125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Quality control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08776" y="2240280"/>
            <a:ext cx="2436876" cy="1051560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91656" y="2331720"/>
            <a:ext cx="777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200" b="1" i="0">
                <a:solidFill>
                  <a:srgbClr val="1FA7E1"/>
                </a:solidFill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23176" y="2395728"/>
            <a:ext cx="143103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Downstream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08776" y="3429000"/>
            <a:ext cx="2436876" cy="269748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91440" bIns="91440" wrap="square"/>
          <a:lstStyle/>
          <a:p>
            <a:pPr algn="l" marL="155448" indent="-155448">
              <a:spcAft>
                <a:spcPts val="1000"/>
              </a:spcAft>
              <a:buClr>
                <a:srgbClr val="1FA7E1"/>
              </a:buClr>
              <a:buFont typeface="Arial"/>
              <a:buChar char="•"/>
            </a:pPr>
            <a:r>
              <a:rPr sz="125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DE: t-test vs. limma</a:t>
            </a:r>
          </a:p>
          <a:p>
            <a:pPr algn="l" marL="155448" indent="-155448">
              <a:spcAft>
                <a:spcPts val="1000"/>
              </a:spcAft>
              <a:buClr>
                <a:srgbClr val="1FA7E1"/>
              </a:buClr>
              <a:buFont typeface="Arial"/>
              <a:buChar char="•"/>
            </a:pPr>
            <a:r>
              <a:rPr sz="125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ORA vs. GSEA</a:t>
            </a:r>
          </a:p>
          <a:p>
            <a:pPr algn="l" marL="155448" indent="-155448">
              <a:spcAft>
                <a:spcPts val="1000"/>
              </a:spcAft>
              <a:buClr>
                <a:srgbClr val="1FA7E1"/>
              </a:buClr>
              <a:buFont typeface="Arial"/>
              <a:buChar char="•"/>
            </a:pPr>
            <a:r>
              <a:rPr sz="125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PPI network (STRING)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65108" y="2240280"/>
            <a:ext cx="2436876" cy="1051560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47988" y="2331720"/>
            <a:ext cx="777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200" b="1" i="0">
                <a:solidFill>
                  <a:srgbClr val="1FA7E1"/>
                </a:solidFill>
                <a:latin typeface="Pretendard SemiBold"/>
                <a:ea typeface="Pretendard SemiBold"/>
                <a:cs typeface="Pretendard SemiBold"/>
              </a:rPr>
              <a:t>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79508" y="2395728"/>
            <a:ext cx="143103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Hands-on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865108" y="3429000"/>
            <a:ext cx="2436876" cy="269748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91440" bIns="91440" wrap="square"/>
          <a:lstStyle/>
          <a:p>
            <a:pPr algn="l" marL="155448" indent="-155448">
              <a:spcAft>
                <a:spcPts val="1000"/>
              </a:spcAft>
              <a:buClr>
                <a:srgbClr val="1FA7E1"/>
              </a:buClr>
              <a:buFont typeface="Arial"/>
              <a:buChar char="•"/>
            </a:pPr>
            <a:r>
              <a:rPr sz="125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Mouse liver data by diet</a:t>
            </a:r>
          </a:p>
          <a:p>
            <a:pPr algn="l" marL="155448" indent="-155448">
              <a:spcAft>
                <a:spcPts val="1000"/>
              </a:spcAft>
              <a:buClr>
                <a:srgbClr val="1FA7E1"/>
              </a:buClr>
              <a:buFont typeface="Arial"/>
              <a:buChar char="•"/>
            </a:pPr>
            <a:r>
              <a:rPr sz="125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Web · Colab notebook</a:t>
            </a:r>
          </a:p>
          <a:p>
            <a:pPr algn="l" marL="155448" indent="-155448">
              <a:spcAft>
                <a:spcPts val="1000"/>
              </a:spcAft>
              <a:buClr>
                <a:srgbClr val="1FA7E1"/>
              </a:buClr>
              <a:buFont typeface="Arial"/>
              <a:buChar char="•"/>
            </a:pPr>
            <a:r>
              <a:rPr sz="125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Enrichment · STRING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96112" y="2331720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000" b="1" i="0">
                <a:solidFill>
                  <a:srgbClr val="1FA7E1"/>
                </a:solidFill>
                <a:latin typeface="Pretendard SemiBold"/>
                <a:ea typeface="Pretendard SemiBold"/>
                <a:cs typeface="Pretendard SemiBold"/>
              </a:rPr>
              <a:t>Part 01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96112" y="2788920"/>
            <a:ext cx="7772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40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LC-MS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4069080"/>
            <a:ext cx="6858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55448" indent="-155448">
              <a:spcAft>
                <a:spcPts val="600"/>
              </a:spcAft>
              <a:buClr>
                <a:srgbClr val="1FA7E1"/>
              </a:buClr>
              <a:buFont typeface="Arial"/>
              <a:buChar char="•"/>
            </a:pPr>
            <a:r>
              <a:rPr sz="1500" b="0" i="0">
                <a:solidFill>
                  <a:srgbClr val="B2CBE5"/>
                </a:solidFill>
                <a:latin typeface="Pretendard"/>
                <a:ea typeface="Pretendard"/>
                <a:cs typeface="Pretendard"/>
              </a:rPr>
              <a:t>Raw data structure and reading MS2 sequences</a:t>
            </a:r>
          </a:p>
          <a:p>
            <a:pPr algn="l" marL="155448" indent="-155448">
              <a:spcAft>
                <a:spcPts val="600"/>
              </a:spcAft>
              <a:buClr>
                <a:srgbClr val="1FA7E1"/>
              </a:buClr>
              <a:buFont typeface="Arial"/>
              <a:buChar char="•"/>
            </a:pPr>
            <a:r>
              <a:rPr sz="1500" b="0" i="0">
                <a:solidFill>
                  <a:srgbClr val="B2CBE5"/>
                </a:solidFill>
                <a:latin typeface="Pretendard"/>
                <a:ea typeface="Pretendard"/>
                <a:cs typeface="Pretendard"/>
              </a:rPr>
              <a:t>Acquisition · quantification, PSM</a:t>
            </a:r>
          </a:p>
          <a:p>
            <a:pPr algn="l" marL="155448" indent="-155448">
              <a:spcAft>
                <a:spcPts val="600"/>
              </a:spcAft>
              <a:buClr>
                <a:srgbClr val="1FA7E1"/>
              </a:buClr>
              <a:buFont typeface="Arial"/>
              <a:buChar char="•"/>
            </a:pPr>
            <a:r>
              <a:rPr sz="1500" b="0" i="0">
                <a:solidFill>
                  <a:srgbClr val="B2CBE5"/>
                </a:solidFill>
                <a:latin typeface="Pretendard"/>
                <a:ea typeface="Pretendard"/>
                <a:cs typeface="Pretendard"/>
              </a:rPr>
              <a:t>Peptide → protein inference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Part 01 ·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What the Raw Data Looks Like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LC-MS data = retention time × m/z × intensity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29" name="슬라이드 번호 개체 틀 8">
            <a:extLst>
              <a:ext uri="{FF2B5EF4-FFF2-40B4-BE49-F238E27FC236}">
                <a16:creationId xmlns:a16="http://schemas.microsoft.com/office/drawing/2014/main" id="{D50649B0-8C95-ACB8-E146-F4DACBF93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9433" y="6435007"/>
            <a:ext cx="2743200" cy="365125"/>
          </a:xfrm>
        </p:spPr>
        <p:txBody>
          <a:bodyPr/>
          <a:lstStyle/>
          <a:p>
            <a:fld id="{8829373E-CD8E-4DEB-9966-45D0690BCFEE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30" name="Rounded Rectangle 29"/>
          <p:cNvSpPr/>
          <p:nvPr/>
        </p:nvSpPr>
        <p:spPr>
          <a:xfrm>
            <a:off x="896112" y="2103120"/>
            <a:ext cx="5394960" cy="301752"/>
          </a:xfrm>
          <a:prstGeom prst="roundRect">
            <a:avLst>
              <a:gd name="adj" fmla="val 50000"/>
            </a:avLst>
          </a:prstGeom>
          <a:solidFill>
            <a:srgbClr val="0F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spcAft>
                <a:spcPts val="4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LC-MS data: retention time × m/z × intensity</a:t>
            </a:r>
          </a:p>
        </p:txBody>
      </p:sp>
      <p:pic>
        <p:nvPicPr>
          <p:cNvPr id="31" name="Picture 30" descr="lcms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432304"/>
            <a:ext cx="5029200" cy="37719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675120" y="2103120"/>
            <a:ext cx="462686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50" b="1" i="0">
                <a:solidFill>
                  <a:srgbClr val="003399"/>
                </a:solidFill>
                <a:latin typeface="Pretendard SemiBold"/>
                <a:ea typeface="Pretendard SemiBold"/>
                <a:cs typeface="Pretendard SemiBold"/>
              </a:rPr>
              <a:t>MS1 · Precursor spectrum   </a:t>
            </a:r>
            <a:r>
              <a:rPr sz="1050" b="0" i="0">
                <a:solidFill>
                  <a:srgbClr val="5B6B80"/>
                </a:solidFill>
                <a:latin typeface="Pretendard"/>
                <a:ea typeface="Pretendard"/>
                <a:cs typeface="Pretendard"/>
              </a:rPr>
              <a:t>Slice at a single RT</a:t>
            </a:r>
          </a:p>
        </p:txBody>
      </p:sp>
      <p:pic>
        <p:nvPicPr>
          <p:cNvPr id="33" name="Picture 32" descr="ms1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377440"/>
            <a:ext cx="4297680" cy="1643231"/>
          </a:xfrm>
          <a:prstGeom prst="rect">
            <a:avLst/>
          </a:prstGeom>
        </p:spPr>
      </p:pic>
      <p:sp>
        <p:nvSpPr>
          <p:cNvPr id="34" name="ms1_to_ms2"/>
          <p:cNvSpPr/>
          <p:nvPr/>
        </p:nvSpPr>
        <p:spPr>
          <a:xfrm>
            <a:off x="7963738" y="4005072"/>
            <a:ext cx="237744" cy="384048"/>
          </a:xfrm>
          <a:prstGeom prst="downArrow">
            <a:avLst/>
          </a:prstGeom>
          <a:solidFill>
            <a:srgbClr val="BF6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4041648"/>
            <a:ext cx="122461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000" b="1" i="0">
                <a:solidFill>
                  <a:srgbClr val="BF6A8B"/>
                </a:solidFill>
                <a:latin typeface="Pretendard SemiBold"/>
                <a:ea typeface="Pretendard SemiBold"/>
                <a:cs typeface="Pretendard SemiBold"/>
              </a:rPr>
              <a:t>isolate &amp; fragment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3778" y="4041648"/>
            <a:ext cx="301820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50" b="1" i="0">
                <a:solidFill>
                  <a:srgbClr val="BF6A8B"/>
                </a:solidFill>
                <a:latin typeface="Pretendard SemiBold"/>
                <a:ea typeface="Pretendard SemiBold"/>
                <a:cs typeface="Pretendard SemiBold"/>
              </a:rPr>
              <a:t>MS2 · Fragment spectrum of 582.32</a:t>
            </a:r>
          </a:p>
        </p:txBody>
      </p:sp>
      <p:pic>
        <p:nvPicPr>
          <p:cNvPr id="37" name="Picture 36" descr="ms2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389120"/>
            <a:ext cx="4626864" cy="200007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96112" y="6263640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>
                <a:solidFill>
                  <a:srgbClr val="5B6B80"/>
                </a:solidFill>
                <a:latin typeface="Pretendard"/>
                <a:ea typeface="Pretendard"/>
                <a:cs typeface="Pretendard"/>
              </a:rPr>
              <a:t>Figure: simulated data for illustration (LVNELTEFAK masses calculated)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Part 01 ·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Acquisition &amp; Quantification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Acquisition and quantification methods determine missing-value patterns and tools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29" name="슬라이드 번호 개체 틀 8">
            <a:extLst>
              <a:ext uri="{FF2B5EF4-FFF2-40B4-BE49-F238E27FC236}">
                <a16:creationId xmlns:a16="http://schemas.microsoft.com/office/drawing/2014/main" id="{D50649B0-8C95-ACB8-E146-F4DACBF93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9433" y="6435007"/>
            <a:ext cx="2743200" cy="365125"/>
          </a:xfrm>
        </p:spPr>
        <p:txBody>
          <a:bodyPr/>
          <a:lstStyle/>
          <a:p>
            <a:fld id="{8829373E-CD8E-4DEB-9966-45D0690BCFEE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30" name="Rounded Rectangle 29"/>
          <p:cNvSpPr/>
          <p:nvPr/>
        </p:nvSpPr>
        <p:spPr>
          <a:xfrm>
            <a:off x="896112" y="2103120"/>
            <a:ext cx="5029200" cy="301752"/>
          </a:xfrm>
          <a:prstGeom prst="roundRect">
            <a:avLst>
              <a:gd name="adj" fmla="val 50000"/>
            </a:avLst>
          </a:prstGeom>
          <a:solidFill>
            <a:srgbClr val="0F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spcAft>
                <a:spcPts val="4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Acquisition: DDA vs DIA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72784" y="2103120"/>
            <a:ext cx="5029200" cy="301752"/>
          </a:xfrm>
          <a:prstGeom prst="roundRect">
            <a:avLst>
              <a:gd name="adj" fmla="val 50000"/>
            </a:avLst>
          </a:prstGeom>
          <a:solidFill>
            <a:srgbClr val="0F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spcAft>
                <a:spcPts val="4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Quantification: Label-free vs TMT</a:t>
            </a:r>
          </a:p>
        </p:txBody>
      </p:sp>
      <p:pic>
        <p:nvPicPr>
          <p:cNvPr id="32" name="Picture 31" descr="ddad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450592"/>
            <a:ext cx="5029200" cy="2188633"/>
          </a:xfrm>
          <a:prstGeom prst="rect">
            <a:avLst/>
          </a:prstGeom>
        </p:spPr>
      </p:pic>
      <p:pic>
        <p:nvPicPr>
          <p:cNvPr id="33" name="Picture 32" descr="lfqtm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2450592"/>
            <a:ext cx="5029200" cy="2188633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896112" y="4846320"/>
            <a:ext cx="685800" cy="329184"/>
          </a:xfrm>
          <a:prstGeom prst="roundRect">
            <a:avLst>
              <a:gd name="adj" fmla="val 50000"/>
            </a:avLst>
          </a:prstGeom>
          <a:solidFill>
            <a:srgbClr val="5B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>
              <a:spcAft>
                <a:spcPts val="40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DDA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19072" y="4846320"/>
            <a:ext cx="4206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Selects only top-intensity precursors; many missing values across samples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6112" y="5349240"/>
            <a:ext cx="685800" cy="329184"/>
          </a:xfrm>
          <a:prstGeom prst="roundRect">
            <a:avLst>
              <a:gd name="adj" fmla="val 50000"/>
            </a:avLst>
          </a:prstGeom>
          <a:solidFill>
            <a:srgbClr val="1FA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>
              <a:spcAft>
                <a:spcPts val="40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DIA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19072" y="5349240"/>
            <a:ext cx="4206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Fragments all precursors in m/z windows; high reproducibility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72784" y="4846320"/>
            <a:ext cx="685800" cy="329184"/>
          </a:xfrm>
          <a:prstGeom prst="roundRect">
            <a:avLst>
              <a:gd name="adj" fmla="val 50000"/>
            </a:avLst>
          </a:prstGeom>
          <a:solidFill>
            <a:srgbClr val="5B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>
              <a:spcAft>
                <a:spcPts val="40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LFQ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95744" y="4846320"/>
            <a:ext cx="4206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Compares MS1 peak areas across runs; no limit on sample number (hands-on data)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72784" y="5349240"/>
            <a:ext cx="685800" cy="329184"/>
          </a:xfrm>
          <a:prstGeom prst="roundRect">
            <a:avLst>
              <a:gd name="adj" fmla="val 50000"/>
            </a:avLst>
          </a:prstGeom>
          <a:solidFill>
            <a:srgbClr val="1FA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>
              <a:spcAft>
                <a:spcPts val="40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TMT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95744" y="5349240"/>
            <a:ext cx="4206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Isobaric tags measure multiple samples in one run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" y="5897880"/>
            <a:ext cx="10405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rgbClr val="5B6B80"/>
                </a:solidFill>
                <a:latin typeface="Pretendard"/>
                <a:ea typeface="Pretendard"/>
                <a:cs typeface="Pretendard"/>
              </a:rPr>
              <a:t>Tools: MaxQuant, FragPipe (DDA) · DIA-NN, Spectronaut (DIA) · Proteome Discoverer (TMT)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Part 01 ·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From Spectra to Peptides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PSM identification and FDR control yield peptide-level quantities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29" name="슬라이드 번호 개체 틀 8">
            <a:extLst>
              <a:ext uri="{FF2B5EF4-FFF2-40B4-BE49-F238E27FC236}">
                <a16:creationId xmlns:a16="http://schemas.microsoft.com/office/drawing/2014/main" id="{D50649B0-8C95-ACB8-E146-F4DACBF93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9433" y="6435007"/>
            <a:ext cx="2743200" cy="365125"/>
          </a:xfrm>
        </p:spPr>
        <p:txBody>
          <a:bodyPr/>
          <a:lstStyle/>
          <a:p>
            <a:fld id="{8829373E-CD8E-4DEB-9966-45D0690BCFEE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896112" y="21031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50" b="1" i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Experimental (top) vs. theoretical (bottom) spectrum</a:t>
            </a:r>
          </a:p>
        </p:txBody>
      </p:sp>
      <p:pic>
        <p:nvPicPr>
          <p:cNvPr id="31" name="Picture 30" descr="mi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395728"/>
            <a:ext cx="4846320" cy="210709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96112" y="4663440"/>
            <a:ext cx="4937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55448" indent="-155448">
              <a:spcAft>
                <a:spcPts val="500"/>
              </a:spcAft>
              <a:buClr>
                <a:srgbClr val="1FA7E1"/>
              </a:buClr>
              <a:buFont typeface="Arial"/>
              <a:buChar char="•"/>
            </a:pPr>
            <a:r>
              <a:rPr sz="1200" b="1" i="0">
                <a:solidFill>
                  <a:srgbClr val="1F2937"/>
                </a:solidFill>
                <a:latin typeface="Pretendard SemiBold"/>
                <a:ea typeface="Pretendard SemiBold"/>
                <a:cs typeface="Pretendard SemiBold"/>
              </a:rPr>
              <a:t>PSM</a:t>
            </a:r>
            <a:r>
              <a:rPr sz="120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: match measured spectra to theoretical spectra from a sequence DB</a:t>
            </a:r>
          </a:p>
          <a:p>
            <a:pPr algn="l" marL="155448" indent="-155448">
              <a:spcAft>
                <a:spcPts val="500"/>
              </a:spcAft>
              <a:buClr>
                <a:srgbClr val="1FA7E1"/>
              </a:buClr>
              <a:buFont typeface="Arial"/>
              <a:buChar char="•"/>
            </a:pPr>
            <a:r>
              <a:rPr sz="1200" b="1" i="0">
                <a:solidFill>
                  <a:srgbClr val="1F2937"/>
                </a:solidFill>
                <a:latin typeface="Pretendard SemiBold"/>
                <a:ea typeface="Pretendard SemiBold"/>
                <a:cs typeface="Pretendard SemiBold"/>
              </a:rPr>
              <a:t>FDR</a:t>
            </a:r>
            <a:r>
              <a:rPr sz="120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: keep error rate ≤ 1% with target-decoy</a:t>
            </a:r>
          </a:p>
          <a:p>
            <a:pPr algn="l" marL="155448" indent="-155448">
              <a:spcAft>
                <a:spcPts val="500"/>
              </a:spcAft>
              <a:buClr>
                <a:srgbClr val="1FA7E1"/>
              </a:buClr>
              <a:buFont typeface="Arial"/>
              <a:buChar char="•"/>
            </a:pPr>
            <a:r>
              <a:rPr sz="120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Done automatically by search software (MaxQuant, DIA-NN, etc.)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72784" y="2103120"/>
            <a:ext cx="5029200" cy="301752"/>
          </a:xfrm>
          <a:prstGeom prst="roundRect">
            <a:avLst>
              <a:gd name="adj" fmla="val 50000"/>
            </a:avLst>
          </a:prstGeom>
          <a:solidFill>
            <a:srgbClr val="0F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spcAft>
                <a:spcPts val="4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Peptide-level table (log2 intensity, example)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6272784" y="2560320"/>
          <a:ext cx="5029200" cy="23042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17320"/>
                <a:gridCol w="411480"/>
                <a:gridCol w="868680"/>
                <a:gridCol w="777240"/>
                <a:gridCol w="777240"/>
                <a:gridCol w="777240"/>
              </a:tblGrid>
              <a:tr h="38404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Peptide</a:t>
                      </a:r>
                    </a:p>
                  </a:txBody>
                  <a:tcPr marL="91440" marR="91440" marT="45720" marB="45720" anchor="ctr">
                    <a:solidFill>
                      <a:srgbClr val="0F2A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z</a:t>
                      </a:r>
                    </a:p>
                  </a:txBody>
                  <a:tcPr marL="91440" marR="91440" marT="45720" marB="45720" anchor="ctr">
                    <a:solidFill>
                      <a:srgbClr val="0F2A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q-value</a:t>
                      </a:r>
                    </a:p>
                  </a:txBody>
                  <a:tcPr marL="91440" marR="91440" marT="45720" marB="45720" anchor="ctr">
                    <a:solidFill>
                      <a:srgbClr val="0F2A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S1</a:t>
                      </a:r>
                    </a:p>
                  </a:txBody>
                  <a:tcPr marL="91440" marR="91440" marT="45720" marB="45720" anchor="ctr">
                    <a:solidFill>
                      <a:srgbClr val="0F2A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S2</a:t>
                      </a:r>
                    </a:p>
                  </a:txBody>
                  <a:tcPr marL="91440" marR="91440" marT="45720" marB="45720" anchor="ctr">
                    <a:solidFill>
                      <a:srgbClr val="0F2A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S3</a:t>
                      </a:r>
                    </a:p>
                  </a:txBody>
                  <a:tcPr marL="91440" marR="91440" marT="45720" marB="45720" anchor="ctr">
                    <a:solidFill>
                      <a:srgbClr val="0F2A4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150" b="1" i="0">
                          <a:solidFill>
                            <a:srgbClr val="0B1F3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LVNELTEFAK</a:t>
                      </a:r>
                    </a:p>
                  </a:txBody>
                  <a:tcPr marL="91440" marR="91440" marT="45720" marB="45720" anchor="ctr"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0.0001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24.8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25.1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24.6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150" b="1" i="0">
                          <a:solidFill>
                            <a:srgbClr val="0B1F3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YLYEIAR</a:t>
                      </a:r>
                    </a:p>
                  </a:txBody>
                  <a:tcPr marL="91440" marR="91440" marT="45720" marB="45720" anchor="ctr"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0.0003</a:t>
                      </a:r>
                    </a:p>
                  </a:txBody>
                  <a:tcPr marL="91440" marR="91440" marT="45720" marB="45720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22.3</a:t>
                      </a:r>
                    </a:p>
                  </a:txBody>
                  <a:tcPr marL="91440" marR="91440" marT="45720" marB="45720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1" i="0">
                          <a:solidFill>
                            <a:srgbClr val="BF6A8B"/>
                          </a:solidFill>
                          <a:latin typeface="Pretendard"/>
                          <a:ea typeface="Pretendard"/>
                          <a:cs typeface="Pretendard"/>
                        </a:rPr>
                        <a:t>NA</a:t>
                      </a:r>
                    </a:p>
                  </a:txBody>
                  <a:tcPr marL="91440" marR="91440" marT="45720" marB="45720" anchor="ctr">
                    <a:solidFill>
                      <a:srgbClr val="F6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22.0</a:t>
                      </a:r>
                    </a:p>
                  </a:txBody>
                  <a:tcPr marL="91440" marR="91440" marT="45720" marB="45720" anchor="ctr">
                    <a:solidFill>
                      <a:srgbClr val="F2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150" b="1" i="0">
                          <a:solidFill>
                            <a:srgbClr val="0B1F3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AEFVEVTK</a:t>
                      </a:r>
                    </a:p>
                  </a:txBody>
                  <a:tcPr marL="91440" marR="91440" marT="45720" marB="45720" anchor="ctr"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0.0008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23.5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23.9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23.2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150" b="1" i="0">
                          <a:solidFill>
                            <a:srgbClr val="0B1F3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HLVDEPQNLIK</a:t>
                      </a:r>
                    </a:p>
                  </a:txBody>
                  <a:tcPr marL="91440" marR="91440" marT="45720" marB="45720" anchor="ctr"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0.0021</a:t>
                      </a:r>
                    </a:p>
                  </a:txBody>
                  <a:tcPr marL="91440" marR="91440" marT="45720" marB="45720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21.1</a:t>
                      </a:r>
                    </a:p>
                  </a:txBody>
                  <a:tcPr marL="91440" marR="91440" marT="45720" marB="45720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1" i="0">
                          <a:solidFill>
                            <a:srgbClr val="BF6A8B"/>
                          </a:solidFill>
                          <a:latin typeface="Pretendard"/>
                          <a:ea typeface="Pretendard"/>
                          <a:cs typeface="Pretendard"/>
                        </a:rPr>
                        <a:t>NA</a:t>
                      </a:r>
                    </a:p>
                  </a:txBody>
                  <a:tcPr marL="91440" marR="91440" marT="45720" marB="45720" anchor="ctr">
                    <a:solidFill>
                      <a:srgbClr val="F6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1" i="0">
                          <a:solidFill>
                            <a:srgbClr val="BF6A8B"/>
                          </a:solidFill>
                          <a:latin typeface="Pretendard"/>
                          <a:ea typeface="Pretendard"/>
                          <a:cs typeface="Pretendard"/>
                        </a:rPr>
                        <a:t>NA</a:t>
                      </a:r>
                    </a:p>
                  </a:txBody>
                  <a:tcPr marL="91440" marR="91440" marT="45720" marB="45720" anchor="ctr">
                    <a:solidFill>
                      <a:srgbClr val="F6E3E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150" b="1" i="0">
                          <a:solidFill>
                            <a:srgbClr val="0B1F3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…</a:t>
                      </a:r>
                    </a:p>
                  </a:txBody>
                  <a:tcPr marL="91440" marR="91440" marT="45720" marB="45720" anchor="ctr"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Rounded Rectangle 34"/>
          <p:cNvSpPr/>
          <p:nvPr/>
        </p:nvSpPr>
        <p:spPr>
          <a:xfrm>
            <a:off x="6272784" y="5074920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91440" bIns="91440" wrap="square"/>
          <a:lstStyle/>
          <a:p>
            <a:pPr algn="l">
              <a:spcAft>
                <a:spcPts val="300"/>
              </a:spcAft>
              <a:buNone/>
            </a:pPr>
            <a:r>
              <a:rPr sz="1300" b="1" i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Row: peptide (precursor), column: sample</a:t>
            </a:r>
          </a:p>
          <a:p>
            <a:pPr algn="l">
              <a:spcAft>
                <a:spcPts val="300"/>
              </a:spcAft>
              <a:buNone/>
            </a:pPr>
            <a:r>
              <a:rPr sz="115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Not protein values yet; grouped into proteins at the next step (protein inference)</a:t>
            </a:r>
          </a:p>
          <a:p>
            <a:pPr algn="l">
              <a:spcAft>
                <a:spcPts val="300"/>
              </a:spcAft>
              <a:buNone/>
            </a:pPr>
            <a:r>
              <a:rPr sz="1150" b="0" i="0">
                <a:solidFill>
                  <a:srgbClr val="BF6A8B"/>
                </a:solidFill>
                <a:latin typeface="Pretendard"/>
                <a:ea typeface="Pretendard"/>
                <a:cs typeface="Pretendard"/>
              </a:rPr>
              <a:t>NA: not measured in some samples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Part 01 ·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Peptide to Protein Inference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Peptides are measured; protein values are inferred from peptides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29" name="슬라이드 번호 개체 틀 8">
            <a:extLst>
              <a:ext uri="{FF2B5EF4-FFF2-40B4-BE49-F238E27FC236}">
                <a16:creationId xmlns:a16="http://schemas.microsoft.com/office/drawing/2014/main" id="{D50649B0-8C95-ACB8-E146-F4DACBF93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9433" y="6435007"/>
            <a:ext cx="2743200" cy="365125"/>
          </a:xfrm>
        </p:spPr>
        <p:txBody>
          <a:bodyPr/>
          <a:lstStyle/>
          <a:p>
            <a:fld id="{8829373E-CD8E-4DEB-9966-45D0690BCFEE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30" name="Rounded Rectangle 29"/>
          <p:cNvSpPr/>
          <p:nvPr/>
        </p:nvSpPr>
        <p:spPr>
          <a:xfrm>
            <a:off x="896112" y="2103120"/>
            <a:ext cx="5806440" cy="301752"/>
          </a:xfrm>
          <a:prstGeom prst="roundRect">
            <a:avLst>
              <a:gd name="adj" fmla="val 50000"/>
            </a:avLst>
          </a:prstGeom>
          <a:solidFill>
            <a:srgbClr val="0F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spcAft>
                <a:spcPts val="4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Peptide → protein mapping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" y="2697480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1" i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Protein 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48840" y="2761488"/>
            <a:ext cx="3108960" cy="182880"/>
          </a:xfrm>
          <a:prstGeom prst="roundRect">
            <a:avLst>
              <a:gd name="adj" fmla="val 50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377440" y="2697480"/>
            <a:ext cx="502920" cy="310896"/>
          </a:xfrm>
          <a:prstGeom prst="roundRect">
            <a:avLst>
              <a:gd name="adj" fmla="val 20000"/>
            </a:avLst>
          </a:prstGeom>
          <a:solidFill>
            <a:srgbClr val="1FA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buNone/>
            </a:pPr>
            <a:r>
              <a:rPr sz="105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p1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37560" y="2697480"/>
            <a:ext cx="502920" cy="310896"/>
          </a:xfrm>
          <a:prstGeom prst="roundRect">
            <a:avLst>
              <a:gd name="adj" fmla="val 20000"/>
            </a:avLst>
          </a:prstGeom>
          <a:solidFill>
            <a:srgbClr val="1FA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buNone/>
            </a:pPr>
            <a:r>
              <a:rPr sz="105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p2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34840" y="2697480"/>
            <a:ext cx="502920" cy="310896"/>
          </a:xfrm>
          <a:prstGeom prst="roundRect">
            <a:avLst>
              <a:gd name="adj" fmla="val 20000"/>
            </a:avLst>
          </a:prstGeom>
          <a:solidFill>
            <a:srgbClr val="BF6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buNone/>
            </a:pPr>
            <a:r>
              <a:rPr sz="105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p3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60" y="2697480"/>
            <a:ext cx="13258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rgbClr val="0B1F3A"/>
                </a:solidFill>
                <a:latin typeface="Pretendard"/>
                <a:ea typeface="Pretendard"/>
                <a:cs typeface="Pretendard"/>
              </a:rPr>
              <a:t>Identified (2 unique)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" y="3291840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1" i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Protein 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148840" y="3355848"/>
            <a:ext cx="3108960" cy="182880"/>
          </a:xfrm>
          <a:prstGeom prst="roundRect">
            <a:avLst>
              <a:gd name="adj" fmla="val 50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514600" y="3291840"/>
            <a:ext cx="502920" cy="310896"/>
          </a:xfrm>
          <a:prstGeom prst="roundRect">
            <a:avLst>
              <a:gd name="adj" fmla="val 20000"/>
            </a:avLst>
          </a:prstGeom>
          <a:solidFill>
            <a:srgbClr val="BF6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buNone/>
            </a:pPr>
            <a:r>
              <a:rPr sz="105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p3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886200" y="3291840"/>
            <a:ext cx="502920" cy="310896"/>
          </a:xfrm>
          <a:prstGeom prst="roundRect">
            <a:avLst>
              <a:gd name="adj" fmla="val 20000"/>
            </a:avLst>
          </a:prstGeom>
          <a:solidFill>
            <a:srgbClr val="1FA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buNone/>
            </a:pPr>
            <a:r>
              <a:rPr sz="105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p4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4960" y="3291840"/>
            <a:ext cx="13258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rgbClr val="0B1F3A"/>
                </a:solidFill>
                <a:latin typeface="Pretendard"/>
                <a:ea typeface="Pretendard"/>
                <a:cs typeface="Pretendard"/>
              </a:rPr>
              <a:t>Identified (1 unique)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" y="3886200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1" i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Protein C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148840" y="3950208"/>
            <a:ext cx="3108960" cy="182880"/>
          </a:xfrm>
          <a:prstGeom prst="roundRect">
            <a:avLst>
              <a:gd name="adj" fmla="val 50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971800" y="3886200"/>
            <a:ext cx="502920" cy="310896"/>
          </a:xfrm>
          <a:prstGeom prst="roundRect">
            <a:avLst>
              <a:gd name="adj" fmla="val 20000"/>
            </a:avLst>
          </a:prstGeom>
          <a:solidFill>
            <a:srgbClr val="5B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buNone/>
            </a:pPr>
            <a:r>
              <a:rPr sz="105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p5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60520" y="3886200"/>
            <a:ext cx="502920" cy="310896"/>
          </a:xfrm>
          <a:prstGeom prst="roundRect">
            <a:avLst>
              <a:gd name="adj" fmla="val 20000"/>
            </a:avLst>
          </a:prstGeom>
          <a:solidFill>
            <a:srgbClr val="5B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buNone/>
            </a:pPr>
            <a:r>
              <a:rPr sz="105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p6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2" y="4343400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1" i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Protein C′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148840" y="4407408"/>
            <a:ext cx="3108960" cy="182880"/>
          </a:xfrm>
          <a:prstGeom prst="roundRect">
            <a:avLst>
              <a:gd name="adj" fmla="val 50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2971800" y="4343400"/>
            <a:ext cx="502920" cy="310896"/>
          </a:xfrm>
          <a:prstGeom prst="roundRect">
            <a:avLst>
              <a:gd name="adj" fmla="val 20000"/>
            </a:avLst>
          </a:prstGeom>
          <a:solidFill>
            <a:srgbClr val="5B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buNone/>
            </a:pPr>
            <a:r>
              <a:rPr sz="105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p5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160520" y="4343400"/>
            <a:ext cx="502920" cy="310896"/>
          </a:xfrm>
          <a:prstGeom prst="roundRect">
            <a:avLst>
              <a:gd name="adj" fmla="val 20000"/>
            </a:avLst>
          </a:prstGeom>
          <a:solidFill>
            <a:srgbClr val="5B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buNone/>
            </a:pPr>
            <a:r>
              <a:rPr sz="105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p6</a:t>
            </a:r>
          </a:p>
        </p:txBody>
      </p:sp>
      <p:sp>
        <p:nvSpPr>
          <p:cNvPr id="50" name="Right Brace 49"/>
          <p:cNvSpPr/>
          <p:nvPr/>
        </p:nvSpPr>
        <p:spPr>
          <a:xfrm>
            <a:off x="5349240" y="3886200"/>
            <a:ext cx="137160" cy="768096"/>
          </a:xfrm>
          <a:prstGeom prst="rightBrace">
            <a:avLst/>
          </a:prstGeom>
          <a:noFill/>
          <a:ln w="15875">
            <a:solidFill>
              <a:srgbClr val="5B6B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32120" y="3931920"/>
            <a:ext cx="12344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100" b="0" i="0">
                <a:solidFill>
                  <a:srgbClr val="0B1F3A"/>
                </a:solidFill>
                <a:latin typeface="Pretendard"/>
                <a:ea typeface="Pretendard"/>
                <a:cs typeface="Pretendard"/>
              </a:rPr>
              <a:t>Indistinguishable</a:t>
            </a:r>
          </a:p>
          <a:p>
            <a:pPr algn="l">
              <a:spcAft>
                <a:spcPts val="0"/>
              </a:spcAft>
              <a:buNone/>
            </a:pPr>
            <a:r>
              <a:rPr sz="1100" b="1" i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protein group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6112" y="4992624"/>
            <a:ext cx="274320" cy="182880"/>
          </a:xfrm>
          <a:prstGeom prst="roundRect">
            <a:avLst>
              <a:gd name="adj" fmla="val 30000"/>
            </a:avLst>
          </a:prstGeom>
          <a:solidFill>
            <a:srgbClr val="1FA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43584" y="4937760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rgbClr val="5B6B80"/>
                </a:solidFill>
                <a:latin typeface="Pretendard"/>
                <a:ea typeface="Pretendard"/>
                <a:cs typeface="Pretendard"/>
              </a:rPr>
              <a:t>Unique peptide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816352" y="4992624"/>
            <a:ext cx="274320" cy="182880"/>
          </a:xfrm>
          <a:prstGeom prst="roundRect">
            <a:avLst>
              <a:gd name="adj" fmla="val 30000"/>
            </a:avLst>
          </a:prstGeom>
          <a:solidFill>
            <a:srgbClr val="BF6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163824" y="4937760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rgbClr val="5B6B80"/>
                </a:solidFill>
                <a:latin typeface="Pretendard"/>
                <a:ea typeface="Pretendard"/>
                <a:cs typeface="Pretendard"/>
              </a:rPr>
              <a:t>Shared peptide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736592" y="4992624"/>
            <a:ext cx="274320" cy="182880"/>
          </a:xfrm>
          <a:prstGeom prst="roundRect">
            <a:avLst>
              <a:gd name="adj" fmla="val 30000"/>
            </a:avLst>
          </a:prstGeom>
          <a:solidFill>
            <a:srgbClr val="5B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84064" y="4937760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rgbClr val="5B6B80"/>
                </a:solidFill>
                <a:latin typeface="Pretendard"/>
                <a:ea typeface="Pretendard"/>
                <a:cs typeface="Pretendard"/>
              </a:rPr>
              <a:t>Peptides shared by isoforms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96112" y="5394960"/>
            <a:ext cx="5806440" cy="822960"/>
          </a:xfrm>
          <a:prstGeom prst="roundRect">
            <a:avLst>
              <a:gd name="adj" fmla="val 10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 bIns="91440" wrap="square"/>
          <a:lstStyle/>
          <a:p>
            <a:pPr algn="l">
              <a:spcAft>
                <a:spcPts val="400"/>
              </a:spcAft>
              <a:buNone/>
            </a:pPr>
            <a:r>
              <a:rPr sz="1250" b="1" i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Razor peptide  </a:t>
            </a:r>
            <a:r>
              <a:rPr sz="120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Shared peptide (p3) assigned to the protein with more evidence (A)</a:t>
            </a:r>
          </a:p>
          <a:p>
            <a:pPr algn="l">
              <a:spcAft>
                <a:spcPts val="400"/>
              </a:spcAft>
              <a:buNone/>
            </a:pPr>
            <a:r>
              <a:rPr sz="1250" b="1" i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Protein group  </a:t>
            </a:r>
            <a:r>
              <a:rPr sz="120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Reported together as C;C′ in the result table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040880" y="2103120"/>
            <a:ext cx="4261104" cy="301752"/>
          </a:xfrm>
          <a:prstGeom prst="roundRect">
            <a:avLst>
              <a:gd name="adj" fmla="val 50000"/>
            </a:avLst>
          </a:prstGeom>
          <a:solidFill>
            <a:srgbClr val="0F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spcAft>
                <a:spcPts val="4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Protein A quantity (example)</a:t>
            </a:r>
          </a:p>
        </p:txBody>
      </p:sp>
      <p:graphicFrame>
        <p:nvGraphicFramePr>
          <p:cNvPr id="60" name="Table 59"/>
          <p:cNvGraphicFramePr>
            <a:graphicFrameLocks noGrp="1"/>
          </p:cNvGraphicFramePr>
          <p:nvPr/>
        </p:nvGraphicFramePr>
        <p:xfrm>
          <a:off x="7040880" y="2542032"/>
          <a:ext cx="4261104" cy="14630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298448"/>
                <a:gridCol w="987552"/>
                <a:gridCol w="987552"/>
                <a:gridCol w="987552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Peptide</a:t>
                      </a:r>
                    </a:p>
                  </a:txBody>
                  <a:tcPr marL="91440" marR="91440" marT="45720" marB="45720" anchor="ctr">
                    <a:solidFill>
                      <a:srgbClr val="0F2A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HFD_1</a:t>
                      </a:r>
                    </a:p>
                  </a:txBody>
                  <a:tcPr marL="91440" marR="91440" marT="45720" marB="45720" anchor="ctr">
                    <a:solidFill>
                      <a:srgbClr val="0F2A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HFD_2</a:t>
                      </a:r>
                    </a:p>
                  </a:txBody>
                  <a:tcPr marL="91440" marR="91440" marT="45720" marB="45720" anchor="ctr">
                    <a:solidFill>
                      <a:srgbClr val="0F2A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ND_1</a:t>
                      </a:r>
                    </a:p>
                  </a:txBody>
                  <a:tcPr marL="91440" marR="91440" marT="45720" marB="45720" anchor="ctr">
                    <a:solidFill>
                      <a:srgbClr val="0F2A4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150" b="1" i="0">
                          <a:solidFill>
                            <a:srgbClr val="0B1F3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p1</a:t>
                      </a:r>
                    </a:p>
                  </a:txBody>
                  <a:tcPr marL="91440" marR="91440" marT="45720" marB="45720" anchor="ctr"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8.1e6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7.6e6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3.9e6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150" b="1" i="0">
                          <a:solidFill>
                            <a:srgbClr val="0B1F3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p2</a:t>
                      </a:r>
                    </a:p>
                  </a:txBody>
                  <a:tcPr marL="91440" marR="91440" marT="45720" marB="45720" anchor="ctr"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2.4e6</a:t>
                      </a:r>
                    </a:p>
                  </a:txBody>
                  <a:tcPr marL="91440" marR="91440" marT="45720" marB="45720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2.6e6</a:t>
                      </a:r>
                    </a:p>
                  </a:txBody>
                  <a:tcPr marL="91440" marR="91440" marT="45720" marB="45720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1.1e6</a:t>
                      </a:r>
                    </a:p>
                  </a:txBody>
                  <a:tcPr marL="91440" marR="91440" marT="45720" marB="45720" anchor="ctr">
                    <a:solidFill>
                      <a:srgbClr val="F2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150" b="1" i="0">
                          <a:solidFill>
                            <a:srgbClr val="0B1F3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p3 (razor)</a:t>
                      </a:r>
                    </a:p>
                  </a:txBody>
                  <a:tcPr marL="91440" marR="91440" marT="45720" marB="45720" anchor="ctr"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5.0e6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4.7e6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2.3e6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1" name="Down Arrow 60"/>
          <p:cNvSpPr/>
          <p:nvPr/>
        </p:nvSpPr>
        <p:spPr>
          <a:xfrm>
            <a:off x="8988552" y="4114800"/>
            <a:ext cx="365760" cy="384048"/>
          </a:xfrm>
          <a:prstGeom prst="downArrow">
            <a:avLst/>
          </a:prstGeom>
          <a:solidFill>
            <a:srgbClr val="B2C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2" name="Table 61"/>
          <p:cNvGraphicFramePr>
            <a:graphicFrameLocks noGrp="1"/>
          </p:cNvGraphicFramePr>
          <p:nvPr/>
        </p:nvGraphicFramePr>
        <p:xfrm>
          <a:off x="7040880" y="4590288"/>
          <a:ext cx="4261104" cy="7315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298448"/>
                <a:gridCol w="987552"/>
                <a:gridCol w="987552"/>
                <a:gridCol w="987552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Protein</a:t>
                      </a:r>
                    </a:p>
                  </a:txBody>
                  <a:tcPr marL="91440" marR="91440" marT="45720" marB="45720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HFD_1</a:t>
                      </a:r>
                    </a:p>
                  </a:txBody>
                  <a:tcPr marL="91440" marR="91440" marT="45720" marB="45720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HFD_2</a:t>
                      </a:r>
                    </a:p>
                  </a:txBody>
                  <a:tcPr marL="91440" marR="91440" marT="45720" marB="45720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ND_1</a:t>
                      </a:r>
                    </a:p>
                  </a:txBody>
                  <a:tcPr marL="91440" marR="91440" marT="45720" marB="45720" anchor="ctr">
                    <a:solidFill>
                      <a:srgbClr val="0B1F3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150" b="1" i="0">
                          <a:solidFill>
                            <a:srgbClr val="0B1F3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Protein A</a:t>
                      </a:r>
                    </a:p>
                  </a:txBody>
                  <a:tcPr marL="91440" marR="91440" marT="45720" marB="45720" anchor="ctr"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1.55e7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1.49e7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7.3e6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3" name="TextBox 62"/>
          <p:cNvSpPr txBox="1"/>
          <p:nvPr/>
        </p:nvSpPr>
        <p:spPr>
          <a:xfrm>
            <a:off x="7040880" y="5440680"/>
            <a:ext cx="426110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Protein value from summed peptide signals or </a:t>
            </a:r>
            <a:r>
              <a:rPr sz="1200" b="1" i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MaxLFQ</a:t>
            </a:r>
            <a:r>
              <a:rPr sz="120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 (example above: simple sum)</a:t>
            </a:r>
          </a:p>
          <a:p>
            <a:pPr algn="l">
              <a:spcAft>
                <a:spcPts val="400"/>
              </a:spcAft>
              <a:buNone/>
            </a:pPr>
            <a:r>
              <a:rPr sz="1200" b="1" i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Repeated for all proteins: protein × sample matrix (input to preprocessing)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96112" y="2331720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000" b="1" i="0">
                <a:solidFill>
                  <a:srgbClr val="1FA7E1"/>
                </a:solidFill>
                <a:latin typeface="Pretendard SemiBold"/>
                <a:ea typeface="Pretendard SemiBold"/>
                <a:cs typeface="Pretendard SemiBold"/>
              </a:rPr>
              <a:t>Part 02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96112" y="2788920"/>
            <a:ext cx="7772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40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4069080"/>
            <a:ext cx="6858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55448" indent="-155448">
              <a:spcAft>
                <a:spcPts val="600"/>
              </a:spcAft>
              <a:buClr>
                <a:srgbClr val="1FA7E1"/>
              </a:buClr>
              <a:buFont typeface="Arial"/>
              <a:buChar char="•"/>
            </a:pPr>
            <a:r>
              <a:rPr sz="1500" b="0" i="0">
                <a:solidFill>
                  <a:srgbClr val="B2CBE5"/>
                </a:solidFill>
                <a:latin typeface="Pretendard"/>
                <a:ea typeface="Pretendard"/>
                <a:cs typeface="Pretendard"/>
              </a:rPr>
              <a:t>Representative tools for each step</a:t>
            </a:r>
          </a:p>
          <a:p>
            <a:pPr algn="l" marL="155448" indent="-155448">
              <a:spcAft>
                <a:spcPts val="600"/>
              </a:spcAft>
              <a:buClr>
                <a:srgbClr val="1FA7E1"/>
              </a:buClr>
              <a:buFont typeface="Arial"/>
              <a:buChar char="•"/>
            </a:pPr>
            <a:r>
              <a:rPr sz="1500" b="0" i="0">
                <a:solidFill>
                  <a:srgbClr val="B2CBE5"/>
                </a:solidFill>
                <a:latin typeface="Pretendard"/>
                <a:ea typeface="Pretendard"/>
                <a:cs typeface="Pretendard"/>
              </a:rPr>
              <a:t>Filtering · normalization · imputation</a:t>
            </a:r>
          </a:p>
          <a:p>
            <a:pPr algn="l" marL="155448" indent="-155448">
              <a:spcAft>
                <a:spcPts val="600"/>
              </a:spcAft>
              <a:buClr>
                <a:srgbClr val="1FA7E1"/>
              </a:buClr>
              <a:buFont typeface="Arial"/>
              <a:buChar char="•"/>
            </a:pPr>
            <a:r>
              <a:rPr sz="1500" b="0" i="0">
                <a:solidFill>
                  <a:srgbClr val="B2CBE5"/>
                </a:solidFill>
                <a:latin typeface="Pretendard"/>
                <a:ea typeface="Pretendard"/>
                <a:cs typeface="Pretendard"/>
              </a:rPr>
              <a:t>Quality control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Part 02 · Preprocessing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Analysis Pipeline &amp; Tools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Representative tools for each step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29" name="슬라이드 번호 개체 틀 8">
            <a:extLst>
              <a:ext uri="{FF2B5EF4-FFF2-40B4-BE49-F238E27FC236}">
                <a16:creationId xmlns:a16="http://schemas.microsoft.com/office/drawing/2014/main" id="{D50649B0-8C95-ACB8-E146-F4DACBF93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9433" y="6435007"/>
            <a:ext cx="2743200" cy="365125"/>
          </a:xfrm>
        </p:spPr>
        <p:txBody>
          <a:bodyPr/>
          <a:lstStyle/>
          <a:p>
            <a:fld id="{8829373E-CD8E-4DEB-9966-45D0690BCFEE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30" name="Rounded Rectangle 29"/>
          <p:cNvSpPr/>
          <p:nvPr/>
        </p:nvSpPr>
        <p:spPr>
          <a:xfrm>
            <a:off x="896112" y="2103120"/>
            <a:ext cx="1938528" cy="566928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wrap="square"/>
          <a:lstStyle/>
          <a:p>
            <a:pPr algn="ctr">
              <a:spcAft>
                <a:spcPts val="400"/>
              </a:spcAft>
              <a:buNone/>
            </a:pPr>
            <a:r>
              <a:rPr sz="1500" b="1" i="0">
                <a:solidFill>
                  <a:srgbClr val="1FA7E1"/>
                </a:solidFill>
                <a:latin typeface="Pretendard SemiBold"/>
                <a:ea typeface="Pretendard SemiBold"/>
                <a:cs typeface="Pretendard SemiBold"/>
              </a:rPr>
              <a:t>1  </a:t>
            </a:r>
            <a:r>
              <a:rPr sz="135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Search · Quant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6112" y="2761488"/>
            <a:ext cx="1938528" cy="251460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33271" y="2880360"/>
            <a:ext cx="1664208" cy="365760"/>
          </a:xfrm>
          <a:prstGeom prst="roundRect">
            <a:avLst>
              <a:gd name="adj" fmla="val 50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>
              <a:spcAft>
                <a:spcPts val="400"/>
              </a:spcAft>
              <a:buNone/>
            </a:pPr>
            <a:r>
              <a:rPr sz="1100" b="1" i="0">
                <a:solidFill>
                  <a:srgbClr val="003399"/>
                </a:solidFill>
                <a:latin typeface="Pretendard SemiBold"/>
                <a:ea typeface="Pretendard SemiBold"/>
                <a:cs typeface="Pretendard SemiBold"/>
              </a:rPr>
              <a:t>MaxQuant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3271" y="3337560"/>
            <a:ext cx="1664208" cy="365760"/>
          </a:xfrm>
          <a:prstGeom prst="roundRect">
            <a:avLst>
              <a:gd name="adj" fmla="val 50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>
              <a:spcAft>
                <a:spcPts val="400"/>
              </a:spcAft>
              <a:buNone/>
            </a:pPr>
            <a:r>
              <a:rPr sz="1100" b="1" i="0">
                <a:solidFill>
                  <a:srgbClr val="003399"/>
                </a:solidFill>
                <a:latin typeface="Pretendard SemiBold"/>
                <a:ea typeface="Pretendard SemiBold"/>
                <a:cs typeface="Pretendard SemiBold"/>
              </a:rPr>
              <a:t>FragPipe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33271" y="3794760"/>
            <a:ext cx="1664208" cy="365760"/>
          </a:xfrm>
          <a:prstGeom prst="roundRect">
            <a:avLst>
              <a:gd name="adj" fmla="val 50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>
              <a:spcAft>
                <a:spcPts val="400"/>
              </a:spcAft>
              <a:buNone/>
            </a:pPr>
            <a:r>
              <a:rPr sz="1100" b="1" i="0">
                <a:solidFill>
                  <a:srgbClr val="003399"/>
                </a:solidFill>
                <a:latin typeface="Pretendard SemiBold"/>
                <a:ea typeface="Pretendard SemiBold"/>
                <a:cs typeface="Pretendard SemiBold"/>
              </a:rPr>
              <a:t>DIA-NN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33271" y="4251960"/>
            <a:ext cx="1664208" cy="365760"/>
          </a:xfrm>
          <a:prstGeom prst="roundRect">
            <a:avLst>
              <a:gd name="adj" fmla="val 50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>
              <a:spcAft>
                <a:spcPts val="400"/>
              </a:spcAft>
              <a:buNone/>
            </a:pPr>
            <a:r>
              <a:rPr sz="1100" b="1" i="0">
                <a:solidFill>
                  <a:srgbClr val="003399"/>
                </a:solidFill>
                <a:latin typeface="Pretendard SemiBold"/>
                <a:ea typeface="Pretendard SemiBold"/>
                <a:cs typeface="Pretendard SemiBold"/>
              </a:rPr>
              <a:t>Spectronaut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33271" y="4709160"/>
            <a:ext cx="1664208" cy="365760"/>
          </a:xfrm>
          <a:prstGeom prst="roundRect">
            <a:avLst>
              <a:gd name="adj" fmla="val 50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>
              <a:spcAft>
                <a:spcPts val="400"/>
              </a:spcAft>
              <a:buNone/>
            </a:pPr>
            <a:r>
              <a:rPr sz="1100" b="1" i="0">
                <a:solidFill>
                  <a:srgbClr val="003399"/>
                </a:solidFill>
                <a:latin typeface="Pretendard SemiBold"/>
                <a:ea typeface="Pretendard SemiBold"/>
                <a:cs typeface="Pretendard SemiBold"/>
              </a:rPr>
              <a:t>Proteome Discoverer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6112" y="5367528"/>
            <a:ext cx="193852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rgbClr val="5B6B80"/>
                </a:solidFill>
                <a:latin typeface="Pretendard"/>
                <a:ea typeface="Pretendard"/>
                <a:cs typeface="Pretendard"/>
              </a:rPr>
              <a:t>Output: </a:t>
            </a:r>
            <a:r>
              <a:rPr sz="1150" b="1" i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Protein matrix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34640" y="2103120"/>
            <a:ext cx="1783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2000" b="1" i="0">
                <a:solidFill>
                  <a:srgbClr val="B2CBE5"/>
                </a:solidFill>
                <a:latin typeface="Pretendard SemiBold"/>
                <a:ea typeface="Pretendard SemiBold"/>
                <a:cs typeface="Pretendard SemiBold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012948" y="2103120"/>
            <a:ext cx="1938528" cy="566928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wrap="square"/>
          <a:lstStyle/>
          <a:p>
            <a:pPr algn="ctr">
              <a:spcAft>
                <a:spcPts val="400"/>
              </a:spcAft>
              <a:buNone/>
            </a:pPr>
            <a:r>
              <a:rPr sz="1500" b="1" i="0">
                <a:solidFill>
                  <a:srgbClr val="1FA7E1"/>
                </a:solidFill>
                <a:latin typeface="Pretendard SemiBold"/>
                <a:ea typeface="Pretendard SemiBold"/>
                <a:cs typeface="Pretendard SemiBold"/>
              </a:rPr>
              <a:t>2  </a:t>
            </a:r>
            <a:r>
              <a:rPr sz="135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Preprocessing · QC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12948" y="2761488"/>
            <a:ext cx="1938528" cy="251460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150108" y="2880360"/>
            <a:ext cx="1664208" cy="365760"/>
          </a:xfrm>
          <a:prstGeom prst="roundRect">
            <a:avLst>
              <a:gd name="adj" fmla="val 50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>
              <a:spcAft>
                <a:spcPts val="400"/>
              </a:spcAft>
              <a:buNone/>
            </a:pPr>
            <a:r>
              <a:rPr sz="1100" b="1" i="0">
                <a:solidFill>
                  <a:srgbClr val="003399"/>
                </a:solidFill>
                <a:latin typeface="Pretendard SemiBold"/>
                <a:ea typeface="Pretendard SemiBold"/>
                <a:cs typeface="Pretendard SemiBold"/>
              </a:rPr>
              <a:t>Perseus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150108" y="3337560"/>
            <a:ext cx="1664208" cy="365760"/>
          </a:xfrm>
          <a:prstGeom prst="roundRect">
            <a:avLst>
              <a:gd name="adj" fmla="val 50000"/>
            </a:avLst>
          </a:prstGeom>
          <a:solidFill>
            <a:srgbClr val="DF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>
              <a:spcAft>
                <a:spcPts val="400"/>
              </a:spcAft>
              <a:buNone/>
            </a:pPr>
            <a:r>
              <a:rPr sz="1100" b="1" i="0">
                <a:solidFill>
                  <a:srgbClr val="0E6F9C"/>
                </a:solidFill>
                <a:latin typeface="Pretendard SemiBold"/>
                <a:ea typeface="Pretendard SemiBold"/>
                <a:cs typeface="Pretendard SemiBold"/>
              </a:rPr>
              <a:t>R: MSstats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150108" y="3794760"/>
            <a:ext cx="1664208" cy="365760"/>
          </a:xfrm>
          <a:prstGeom prst="roundRect">
            <a:avLst>
              <a:gd name="adj" fmla="val 50000"/>
            </a:avLst>
          </a:prstGeom>
          <a:solidFill>
            <a:srgbClr val="DF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>
              <a:spcAft>
                <a:spcPts val="400"/>
              </a:spcAft>
              <a:buNone/>
            </a:pPr>
            <a:r>
              <a:rPr sz="1100" b="1" i="0">
                <a:solidFill>
                  <a:srgbClr val="0E6F9C"/>
                </a:solidFill>
                <a:latin typeface="Pretendard SemiBold"/>
                <a:ea typeface="Pretendard SemiBold"/>
                <a:cs typeface="Pretendard SemiBold"/>
              </a:rPr>
              <a:t>Python: pandas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012948" y="5367528"/>
            <a:ext cx="193852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rgbClr val="5B6B80"/>
                </a:solidFill>
                <a:latin typeface="Pretendard"/>
                <a:ea typeface="Pretendard"/>
                <a:cs typeface="Pretendard"/>
              </a:rPr>
              <a:t>Output: </a:t>
            </a:r>
            <a:r>
              <a:rPr sz="1150" b="1" i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Normalized matrix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51476" y="2103120"/>
            <a:ext cx="1783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2000" b="1" i="0">
                <a:solidFill>
                  <a:srgbClr val="B2CBE5"/>
                </a:solidFill>
                <a:latin typeface="Pretendard SemiBold"/>
                <a:ea typeface="Pretendard SemiBold"/>
                <a:cs typeface="Pretendard SemiBold"/>
              </a:rPr>
              <a:t>›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129783" y="2103120"/>
            <a:ext cx="1938528" cy="566928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wrap="square"/>
          <a:lstStyle/>
          <a:p>
            <a:pPr algn="ctr">
              <a:spcAft>
                <a:spcPts val="400"/>
              </a:spcAft>
              <a:buNone/>
            </a:pPr>
            <a:r>
              <a:rPr sz="1500" b="1" i="0">
                <a:solidFill>
                  <a:srgbClr val="1FA7E1"/>
                </a:solidFill>
                <a:latin typeface="Pretendard SemiBold"/>
                <a:ea typeface="Pretendard SemiBold"/>
                <a:cs typeface="Pretendard SemiBold"/>
              </a:rPr>
              <a:t>3  </a:t>
            </a:r>
            <a:r>
              <a:rPr sz="135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DE analysis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129783" y="2761488"/>
            <a:ext cx="1938528" cy="251460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266944" y="2880360"/>
            <a:ext cx="1664208" cy="365760"/>
          </a:xfrm>
          <a:prstGeom prst="roundRect">
            <a:avLst>
              <a:gd name="adj" fmla="val 50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>
              <a:spcAft>
                <a:spcPts val="400"/>
              </a:spcAft>
              <a:buNone/>
            </a:pPr>
            <a:r>
              <a:rPr sz="1100" b="1" i="0">
                <a:solidFill>
                  <a:srgbClr val="003399"/>
                </a:solidFill>
                <a:latin typeface="Pretendard SemiBold"/>
                <a:ea typeface="Pretendard SemiBold"/>
                <a:cs typeface="Pretendard SemiBold"/>
              </a:rPr>
              <a:t>Perseus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266944" y="3337560"/>
            <a:ext cx="1664208" cy="365760"/>
          </a:xfrm>
          <a:prstGeom prst="roundRect">
            <a:avLst>
              <a:gd name="adj" fmla="val 50000"/>
            </a:avLst>
          </a:prstGeom>
          <a:solidFill>
            <a:srgbClr val="DF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>
              <a:spcAft>
                <a:spcPts val="400"/>
              </a:spcAft>
              <a:buNone/>
            </a:pPr>
            <a:r>
              <a:rPr sz="1100" b="1" i="0">
                <a:solidFill>
                  <a:srgbClr val="0E6F9C"/>
                </a:solidFill>
                <a:latin typeface="Pretendard SemiBold"/>
                <a:ea typeface="Pretendard SemiBold"/>
                <a:cs typeface="Pretendard SemiBold"/>
              </a:rPr>
              <a:t>R: limma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266944" y="3794760"/>
            <a:ext cx="1664208" cy="365760"/>
          </a:xfrm>
          <a:prstGeom prst="roundRect">
            <a:avLst>
              <a:gd name="adj" fmla="val 50000"/>
            </a:avLst>
          </a:prstGeom>
          <a:solidFill>
            <a:srgbClr val="DF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>
              <a:spcAft>
                <a:spcPts val="400"/>
              </a:spcAft>
              <a:buNone/>
            </a:pPr>
            <a:r>
              <a:rPr sz="1100" b="1" i="0">
                <a:solidFill>
                  <a:srgbClr val="0E6F9C"/>
                </a:solidFill>
                <a:latin typeface="Pretendard SemiBold"/>
                <a:ea typeface="Pretendard SemiBold"/>
                <a:cs typeface="Pretendard SemiBold"/>
              </a:rPr>
              <a:t>Python: scipy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129783" y="5367528"/>
            <a:ext cx="193852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rgbClr val="5B6B80"/>
                </a:solidFill>
                <a:latin typeface="Pretendard"/>
                <a:ea typeface="Pretendard"/>
                <a:cs typeface="Pretendard"/>
              </a:rPr>
              <a:t>Output: </a:t>
            </a:r>
            <a:r>
              <a:rPr sz="1150" b="1" i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DE table · volcano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68312" y="2103120"/>
            <a:ext cx="1783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2000" b="1" i="0">
                <a:solidFill>
                  <a:srgbClr val="B2CBE5"/>
                </a:solidFill>
                <a:latin typeface="Pretendard SemiBold"/>
                <a:ea typeface="Pretendard SemiBold"/>
                <a:cs typeface="Pretendard SemiBold"/>
              </a:rPr>
              <a:t>›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46620" y="2103120"/>
            <a:ext cx="1938528" cy="566928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wrap="square"/>
          <a:lstStyle/>
          <a:p>
            <a:pPr algn="ctr">
              <a:spcAft>
                <a:spcPts val="400"/>
              </a:spcAft>
              <a:buNone/>
            </a:pPr>
            <a:r>
              <a:rPr sz="1500" b="1" i="0">
                <a:solidFill>
                  <a:srgbClr val="1FA7E1"/>
                </a:solidFill>
                <a:latin typeface="Pretendard SemiBold"/>
                <a:ea typeface="Pretendard SemiBold"/>
                <a:cs typeface="Pretendard SemiBold"/>
              </a:rPr>
              <a:t>4  </a:t>
            </a:r>
            <a:r>
              <a:rPr sz="135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Enrichment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246620" y="2761488"/>
            <a:ext cx="1938528" cy="251460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383780" y="2880360"/>
            <a:ext cx="1664208" cy="365760"/>
          </a:xfrm>
          <a:prstGeom prst="roundRect">
            <a:avLst>
              <a:gd name="adj" fmla="val 50000"/>
            </a:avLst>
          </a:prstGeom>
          <a:solidFill>
            <a:srgbClr val="F6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>
              <a:spcAft>
                <a:spcPts val="400"/>
              </a:spcAft>
              <a:buNone/>
            </a:pPr>
            <a:r>
              <a:rPr sz="1100" b="1" i="0">
                <a:solidFill>
                  <a:srgbClr val="9E4A6C"/>
                </a:solidFill>
                <a:latin typeface="Pretendard SemiBold"/>
                <a:ea typeface="Pretendard SemiBold"/>
                <a:cs typeface="Pretendard SemiBold"/>
              </a:rPr>
              <a:t>g:Profiler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383780" y="3337560"/>
            <a:ext cx="1664208" cy="365760"/>
          </a:xfrm>
          <a:prstGeom prst="roundRect">
            <a:avLst>
              <a:gd name="adj" fmla="val 50000"/>
            </a:avLst>
          </a:prstGeom>
          <a:solidFill>
            <a:srgbClr val="F6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>
              <a:spcAft>
                <a:spcPts val="400"/>
              </a:spcAft>
              <a:buNone/>
            </a:pPr>
            <a:r>
              <a:rPr sz="1100" b="1" i="0">
                <a:solidFill>
                  <a:srgbClr val="9E4A6C"/>
                </a:solidFill>
                <a:latin typeface="Pretendard SemiBold"/>
                <a:ea typeface="Pretendard SemiBold"/>
                <a:cs typeface="Pretendard SemiBold"/>
              </a:rPr>
              <a:t>Enrichr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83780" y="3794760"/>
            <a:ext cx="1664208" cy="365760"/>
          </a:xfrm>
          <a:prstGeom prst="roundRect">
            <a:avLst>
              <a:gd name="adj" fmla="val 50000"/>
            </a:avLst>
          </a:prstGeom>
          <a:solidFill>
            <a:srgbClr val="F6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>
              <a:spcAft>
                <a:spcPts val="400"/>
              </a:spcAft>
              <a:buNone/>
            </a:pPr>
            <a:r>
              <a:rPr sz="1100" b="1" i="0">
                <a:solidFill>
                  <a:srgbClr val="9E4A6C"/>
                </a:solidFill>
                <a:latin typeface="Pretendard SemiBold"/>
                <a:ea typeface="Pretendard SemiBold"/>
                <a:cs typeface="Pretendard SemiBold"/>
              </a:rPr>
              <a:t>DAVID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383780" y="4251960"/>
            <a:ext cx="1664208" cy="365760"/>
          </a:xfrm>
          <a:prstGeom prst="roundRect">
            <a:avLst>
              <a:gd name="adj" fmla="val 50000"/>
            </a:avLst>
          </a:prstGeom>
          <a:solidFill>
            <a:srgbClr val="DF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>
              <a:spcAft>
                <a:spcPts val="400"/>
              </a:spcAft>
              <a:buNone/>
            </a:pPr>
            <a:r>
              <a:rPr sz="1100" b="1" i="0">
                <a:solidFill>
                  <a:srgbClr val="0E6F9C"/>
                </a:solidFill>
                <a:latin typeface="Pretendard SemiBold"/>
                <a:ea typeface="Pretendard SemiBold"/>
                <a:cs typeface="Pretendard SemiBold"/>
              </a:rPr>
              <a:t>R: clusterProfiler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83780" y="4709160"/>
            <a:ext cx="1664208" cy="365760"/>
          </a:xfrm>
          <a:prstGeom prst="roundRect">
            <a:avLst>
              <a:gd name="adj" fmla="val 50000"/>
            </a:avLst>
          </a:prstGeom>
          <a:solidFill>
            <a:srgbClr val="DF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>
              <a:spcAft>
                <a:spcPts val="400"/>
              </a:spcAft>
              <a:buNone/>
            </a:pPr>
            <a:r>
              <a:rPr sz="1100" b="1" i="0">
                <a:solidFill>
                  <a:srgbClr val="0E6F9C"/>
                </a:solidFill>
                <a:latin typeface="Pretendard SemiBold"/>
                <a:ea typeface="Pretendard SemiBold"/>
                <a:cs typeface="Pretendard SemiBold"/>
              </a:rPr>
              <a:t>Python: gseapy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246620" y="5367528"/>
            <a:ext cx="193852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rgbClr val="5B6B80"/>
                </a:solidFill>
                <a:latin typeface="Pretendard"/>
                <a:ea typeface="Pretendard"/>
                <a:cs typeface="Pretendard"/>
              </a:rPr>
              <a:t>Output: </a:t>
            </a:r>
            <a:r>
              <a:rPr sz="1150" b="1" i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Enriched terms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85148" y="2103120"/>
            <a:ext cx="1783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2000" b="1" i="0">
                <a:solidFill>
                  <a:srgbClr val="B2CBE5"/>
                </a:solidFill>
                <a:latin typeface="Pretendard SemiBold"/>
                <a:ea typeface="Pretendard SemiBold"/>
                <a:cs typeface="Pretendard SemiBold"/>
              </a:rPr>
              <a:t>›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363456" y="2103120"/>
            <a:ext cx="1938528" cy="566928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wrap="square"/>
          <a:lstStyle/>
          <a:p>
            <a:pPr algn="ctr">
              <a:spcAft>
                <a:spcPts val="400"/>
              </a:spcAft>
              <a:buNone/>
            </a:pPr>
            <a:r>
              <a:rPr sz="1500" b="1" i="0">
                <a:solidFill>
                  <a:srgbClr val="1FA7E1"/>
                </a:solidFill>
                <a:latin typeface="Pretendard SemiBold"/>
                <a:ea typeface="Pretendard SemiBold"/>
                <a:cs typeface="Pretendard SemiBold"/>
              </a:rPr>
              <a:t>5  </a:t>
            </a:r>
            <a:r>
              <a:rPr sz="135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PPI network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363456" y="2761488"/>
            <a:ext cx="1938528" cy="251460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500616" y="2880360"/>
            <a:ext cx="1664208" cy="365760"/>
          </a:xfrm>
          <a:prstGeom prst="roundRect">
            <a:avLst>
              <a:gd name="adj" fmla="val 50000"/>
            </a:avLst>
          </a:prstGeom>
          <a:solidFill>
            <a:srgbClr val="F6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>
              <a:spcAft>
                <a:spcPts val="400"/>
              </a:spcAft>
              <a:buNone/>
            </a:pPr>
            <a:r>
              <a:rPr sz="1100" b="1" i="0">
                <a:solidFill>
                  <a:srgbClr val="9E4A6C"/>
                </a:solidFill>
                <a:latin typeface="Pretendard SemiBold"/>
                <a:ea typeface="Pretendard SemiBold"/>
                <a:cs typeface="Pretendard SemiBold"/>
              </a:rPr>
              <a:t>STRING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500616" y="3337560"/>
            <a:ext cx="1664208" cy="365760"/>
          </a:xfrm>
          <a:prstGeom prst="roundRect">
            <a:avLst>
              <a:gd name="adj" fmla="val 50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>
              <a:spcAft>
                <a:spcPts val="400"/>
              </a:spcAft>
              <a:buNone/>
            </a:pPr>
            <a:r>
              <a:rPr sz="1100" b="1" i="0">
                <a:solidFill>
                  <a:srgbClr val="003399"/>
                </a:solidFill>
                <a:latin typeface="Pretendard SemiBold"/>
                <a:ea typeface="Pretendard SemiBold"/>
                <a:cs typeface="Pretendard SemiBold"/>
              </a:rPr>
              <a:t>Cytoscape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500616" y="3794760"/>
            <a:ext cx="1664208" cy="365760"/>
          </a:xfrm>
          <a:prstGeom prst="roundRect">
            <a:avLst>
              <a:gd name="adj" fmla="val 50000"/>
            </a:avLst>
          </a:prstGeom>
          <a:solidFill>
            <a:srgbClr val="DF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>
              <a:spcAft>
                <a:spcPts val="400"/>
              </a:spcAft>
              <a:buNone/>
            </a:pPr>
            <a:r>
              <a:rPr sz="1100" b="1" i="0">
                <a:solidFill>
                  <a:srgbClr val="0E6F9C"/>
                </a:solidFill>
                <a:latin typeface="Pretendard SemiBold"/>
                <a:ea typeface="Pretendard SemiBold"/>
                <a:cs typeface="Pretendard SemiBold"/>
              </a:rPr>
              <a:t>R: STRINGdb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363456" y="5367528"/>
            <a:ext cx="193852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rgbClr val="5B6B80"/>
                </a:solidFill>
                <a:latin typeface="Pretendard"/>
                <a:ea typeface="Pretendard"/>
                <a:cs typeface="Pretendard"/>
              </a:rPr>
              <a:t>Output: </a:t>
            </a:r>
            <a:r>
              <a:rPr sz="1150" b="1" i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Network · modules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96112" y="6053328"/>
            <a:ext cx="292608" cy="201168"/>
          </a:xfrm>
          <a:prstGeom prst="roundRect">
            <a:avLst>
              <a:gd name="adj" fmla="val 50000"/>
            </a:avLst>
          </a:prstGeom>
          <a:solidFill>
            <a:srgbClr val="E6EEF6"/>
          </a:solidFill>
          <a:ln w="12700">
            <a:solidFill>
              <a:srgbClr val="00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261872" y="601675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rgbClr val="5B6B80"/>
                </a:solidFill>
                <a:latin typeface="Pretendard"/>
                <a:ea typeface="Pretendard"/>
                <a:cs typeface="Pretendard"/>
              </a:rPr>
              <a:t>Desktop (GUI)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816352" y="6053328"/>
            <a:ext cx="292608" cy="201168"/>
          </a:xfrm>
          <a:prstGeom prst="roundRect">
            <a:avLst>
              <a:gd name="adj" fmla="val 50000"/>
            </a:avLst>
          </a:prstGeom>
          <a:solidFill>
            <a:srgbClr val="F6E3EA"/>
          </a:solidFill>
          <a:ln w="12700">
            <a:solidFill>
              <a:srgbClr val="9E4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182112" y="601675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rgbClr val="5B6B80"/>
                </a:solidFill>
                <a:latin typeface="Pretendard"/>
                <a:ea typeface="Pretendard"/>
                <a:cs typeface="Pretendard"/>
              </a:rPr>
              <a:t>Web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736592" y="6053328"/>
            <a:ext cx="292608" cy="201168"/>
          </a:xfrm>
          <a:prstGeom prst="roundRect">
            <a:avLst>
              <a:gd name="adj" fmla="val 50000"/>
            </a:avLst>
          </a:prstGeom>
          <a:solidFill>
            <a:srgbClr val="DFF2FB"/>
          </a:solidFill>
          <a:ln w="12700">
            <a:solidFill>
              <a:srgbClr val="0E6F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102352" y="601675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rgbClr val="5B6B80"/>
                </a:solidFill>
                <a:latin typeface="Pretendard"/>
                <a:ea typeface="Pretendard"/>
                <a:cs typeface="Pretendard"/>
              </a:rPr>
              <a:t>Code (R / Python)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Part 02 · Preprocessing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Preprocessing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Data preprocessing before statistical analysis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29" name="슬라이드 번호 개체 틀 8">
            <a:extLst>
              <a:ext uri="{FF2B5EF4-FFF2-40B4-BE49-F238E27FC236}">
                <a16:creationId xmlns:a16="http://schemas.microsoft.com/office/drawing/2014/main" id="{D50649B0-8C95-ACB8-E146-F4DACBF93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9433" y="6435007"/>
            <a:ext cx="2743200" cy="365125"/>
          </a:xfrm>
        </p:spPr>
        <p:txBody>
          <a:bodyPr/>
          <a:lstStyle/>
          <a:p>
            <a:fld id="{8829373E-CD8E-4DEB-9966-45D0690BCFEE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30" name="Rounded Rectangle 29"/>
          <p:cNvSpPr/>
          <p:nvPr/>
        </p:nvSpPr>
        <p:spPr>
          <a:xfrm>
            <a:off x="896112" y="2103120"/>
            <a:ext cx="2395728" cy="160020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78992" y="2240280"/>
            <a:ext cx="420624" cy="420624"/>
          </a:xfrm>
          <a:prstGeom prst="ellipse">
            <a:avLst/>
          </a:prstGeom>
          <a:solidFill>
            <a:srgbClr val="1FA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9344" y="2240280"/>
            <a:ext cx="157276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50" b="1" i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Filtering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" y="2788920"/>
            <a:ext cx="20299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5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Remove contaminants · decoys; filter by valid-value ratio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2103120"/>
            <a:ext cx="274320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2000" b="1" i="0">
                <a:solidFill>
                  <a:srgbClr val="B2CBE5"/>
                </a:solidFill>
                <a:latin typeface="Pretendard SemiBold"/>
                <a:ea typeface="Pretendard SemiBold"/>
                <a:cs typeface="Pretendard SemiBold"/>
              </a:rPr>
              <a:t>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566160" y="2103120"/>
            <a:ext cx="2395728" cy="160020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749039" y="2240280"/>
            <a:ext cx="420624" cy="420624"/>
          </a:xfrm>
          <a:prstGeom prst="ellipse">
            <a:avLst/>
          </a:prstGeom>
          <a:solidFill>
            <a:srgbClr val="1FA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79392" y="2240280"/>
            <a:ext cx="157276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50" b="1" i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Log2 transform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49039" y="2788920"/>
            <a:ext cx="20299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5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Make the intensity distribution near-symmetric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61888" y="2103120"/>
            <a:ext cx="274320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2000" b="1" i="0">
                <a:solidFill>
                  <a:srgbClr val="B2CBE5"/>
                </a:solidFill>
                <a:latin typeface="Pretendard SemiBold"/>
                <a:ea typeface="Pretendard SemiBold"/>
                <a:cs typeface="Pretendard SemiBold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36208" y="2103120"/>
            <a:ext cx="2395728" cy="160020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19088" y="2240280"/>
            <a:ext cx="420624" cy="420624"/>
          </a:xfrm>
          <a:prstGeom prst="ellipse">
            <a:avLst/>
          </a:prstGeom>
          <a:solidFill>
            <a:srgbClr val="1FA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2240280"/>
            <a:ext cx="157276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50" b="1" i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Normalization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19088" y="2788920"/>
            <a:ext cx="20299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5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Correct sample loading differences (e.g., median centering)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06256" y="2103120"/>
            <a:ext cx="2395728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2CBE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089136" y="2286000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>
              <a:spcAft>
                <a:spcPts val="400"/>
              </a:spcAft>
              <a:buNone/>
            </a:pPr>
            <a:r>
              <a:rPr sz="1050" b="1" i="0">
                <a:solidFill>
                  <a:srgbClr val="003399"/>
                </a:solidFill>
                <a:latin typeface="Pretendard SemiBold"/>
                <a:ea typeface="Pretendard SemiBold"/>
                <a:cs typeface="Pretendard SemiBold"/>
              </a:rPr>
              <a:t>If needed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12096" y="2240280"/>
            <a:ext cx="129844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50" b="1" i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Imputation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89136" y="2788920"/>
            <a:ext cx="20299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5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Consider only with many missing values; often skipped</a:t>
            </a:r>
          </a:p>
        </p:txBody>
      </p:sp>
      <p:pic>
        <p:nvPicPr>
          <p:cNvPr id="48" name="Picture 47" descr="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3931920"/>
            <a:ext cx="5257800" cy="1930598"/>
          </a:xfrm>
          <a:prstGeom prst="rect">
            <a:avLst/>
          </a:prstGeom>
        </p:spPr>
      </p:pic>
      <p:pic>
        <p:nvPicPr>
          <p:cNvPr id="49" name="Picture 48" descr="miss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931920"/>
            <a:ext cx="2423160" cy="1898142"/>
          </a:xfrm>
          <a:prstGeom prst="rect">
            <a:avLst/>
          </a:prstGeom>
        </p:spPr>
      </p:pic>
      <p:sp>
        <p:nvSpPr>
          <p:cNvPr id="50" name="Rounded Rectangle 49"/>
          <p:cNvSpPr/>
          <p:nvPr/>
        </p:nvSpPr>
        <p:spPr>
          <a:xfrm>
            <a:off x="8823960" y="3886200"/>
            <a:ext cx="2478024" cy="224028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 wrap="square"/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Options for missing values</a:t>
            </a:r>
          </a:p>
          <a:p>
            <a:pPr algn="l" marL="155448" indent="-155448">
              <a:spcAft>
                <a:spcPts val="400"/>
              </a:spcAft>
              <a:buClr>
                <a:srgbClr val="1FA7E1"/>
              </a:buClr>
              <a:buFont typeface="Arial"/>
              <a:buChar char="•"/>
            </a:pPr>
            <a:r>
              <a:rPr sz="1050" b="1" i="0">
                <a:solidFill>
                  <a:srgbClr val="1F2937"/>
                </a:solidFill>
                <a:latin typeface="Pretendard SemiBold"/>
                <a:ea typeface="Pretendard SemiBold"/>
                <a:cs typeface="Pretendard SemiBold"/>
              </a:rPr>
              <a:t>Analyze as is</a:t>
            </a:r>
            <a:r>
              <a:rPr sz="105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: with few missing values, analyze directly (limma allows NA)</a:t>
            </a:r>
          </a:p>
          <a:p>
            <a:pPr algn="l" marL="155448" indent="-155448">
              <a:spcAft>
                <a:spcPts val="400"/>
              </a:spcAft>
              <a:buClr>
                <a:srgbClr val="1FA7E1"/>
              </a:buClr>
              <a:buFont typeface="Arial"/>
              <a:buChar char="•"/>
            </a:pPr>
            <a:r>
              <a:rPr sz="1050" b="1" i="0">
                <a:solidFill>
                  <a:srgbClr val="1F2937"/>
                </a:solidFill>
                <a:latin typeface="Pretendard SemiBold"/>
                <a:ea typeface="Pretendard SemiBold"/>
                <a:cs typeface="Pretendard SemiBold"/>
              </a:rPr>
              <a:t>Impute</a:t>
            </a:r>
            <a:r>
              <a:rPr sz="105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: low values for MNAR (MinProb), kNN etc. for MCAR</a:t>
            </a:r>
          </a:p>
          <a:p>
            <a:pPr algn="l" marL="155448" indent="-155448">
              <a:spcAft>
                <a:spcPts val="400"/>
              </a:spcAft>
              <a:buClr>
                <a:srgbClr val="1FA7E1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Imputed values can create false differences; compare before and after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6112" y="6172200"/>
            <a:ext cx="10405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900" b="0" i="0">
                <a:solidFill>
                  <a:srgbClr val="5B6B80"/>
                </a:solidFill>
                <a:latin typeface="Pretendard"/>
                <a:ea typeface="Pretendard"/>
                <a:cs typeface="Pretendard"/>
              </a:rPr>
              <a:t>Figure: hands-on data (Small et al., 2024, 4 weeks)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Part 02 · Preprocessing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Quality Control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Key QC metrics to check before statistics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29" name="슬라이드 번호 개체 틀 8">
            <a:extLst>
              <a:ext uri="{FF2B5EF4-FFF2-40B4-BE49-F238E27FC236}">
                <a16:creationId xmlns:a16="http://schemas.microsoft.com/office/drawing/2014/main" id="{D50649B0-8C95-ACB8-E146-F4DACBF93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9433" y="6435007"/>
            <a:ext cx="2743200" cy="365125"/>
          </a:xfrm>
        </p:spPr>
        <p:txBody>
          <a:bodyPr/>
          <a:lstStyle/>
          <a:p>
            <a:fld id="{8829373E-CD8E-4DEB-9966-45D0690BCFEE}" type="slidenum">
              <a:rPr lang="ko-KR" altLang="en-US" smtClean="0"/>
              <a:pPr/>
              <a:t>2</a:t>
            </a:fld>
            <a:endParaRPr lang="ko-KR" altLang="en-US"/>
          </a:p>
        </p:txBody>
      </p:sp>
      <p:pic>
        <p:nvPicPr>
          <p:cNvPr id="30" name="Picture 29" descr="q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103120"/>
            <a:ext cx="10405872" cy="2415649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969264" y="4617720"/>
            <a:ext cx="2455164" cy="6858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 bIns="91440" wrap="square"/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rgbClr val="0B1F3A"/>
                </a:solidFill>
                <a:latin typeface="Pretendard"/>
                <a:ea typeface="Pretendard"/>
                <a:cs typeface="Pretendard"/>
              </a:rPr>
              <a:t>Muscle-contaminated samples (*) have fewer IDs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70732" y="4617720"/>
            <a:ext cx="2455164" cy="6858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 bIns="91440" wrap="square"/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rgbClr val="0B1F3A"/>
                </a:solidFill>
                <a:latin typeface="Pretendard"/>
                <a:ea typeface="Pretendard"/>
                <a:cs typeface="Pretendard"/>
              </a:rPr>
              <a:t>Median within-group CV 14–16%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617720"/>
            <a:ext cx="2455164" cy="6858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 bIns="91440" wrap="square"/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rgbClr val="0B1F3A"/>
                </a:solidFill>
                <a:latin typeface="Pretendard"/>
                <a:ea typeface="Pretendard"/>
                <a:cs typeface="Pretendard"/>
              </a:rPr>
              <a:t>5 muscle-contaminated samples stand apart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73668" y="4617720"/>
            <a:ext cx="2455164" cy="6858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 bIns="91440" wrap="square"/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rgbClr val="0B1F3A"/>
                </a:solidFill>
                <a:latin typeface="Pretendard"/>
                <a:ea typeface="Pretendard"/>
                <a:cs typeface="Pretendard"/>
              </a:rPr>
              <a:t>Most sample correlations ≥ 0.97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" y="6172200"/>
            <a:ext cx="10405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900" b="0" i="0">
                <a:solidFill>
                  <a:srgbClr val="5B6B80"/>
                </a:solidFill>
                <a:latin typeface="Pretendard"/>
                <a:ea typeface="Pretendard"/>
                <a:cs typeface="Pretendard"/>
              </a:rPr>
              <a:t>Figure: hands-on data (Small et al., 2024, 4 weeks, 45 samples)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96112" y="2331720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000" b="1" i="0">
                <a:solidFill>
                  <a:srgbClr val="1FA7E1"/>
                </a:solidFill>
                <a:latin typeface="Pretendard SemiBold"/>
                <a:ea typeface="Pretendard SemiBold"/>
                <a:cs typeface="Pretendard SemiBold"/>
              </a:rPr>
              <a:t>Part 03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96112" y="2788920"/>
            <a:ext cx="7772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40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Downstream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4069080"/>
            <a:ext cx="6858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55448" indent="-155448">
              <a:spcAft>
                <a:spcPts val="600"/>
              </a:spcAft>
              <a:buClr>
                <a:srgbClr val="1FA7E1"/>
              </a:buClr>
              <a:buFont typeface="Arial"/>
              <a:buChar char="•"/>
            </a:pPr>
            <a:r>
              <a:rPr sz="1500" b="0" i="0">
                <a:solidFill>
                  <a:srgbClr val="B2CBE5"/>
                </a:solidFill>
                <a:latin typeface="Pretendard"/>
                <a:ea typeface="Pretendard"/>
                <a:cs typeface="Pretendard"/>
              </a:rPr>
              <a:t>Differential expression: t-test vs. limma</a:t>
            </a:r>
          </a:p>
          <a:p>
            <a:pPr algn="l" marL="155448" indent="-155448">
              <a:spcAft>
                <a:spcPts val="600"/>
              </a:spcAft>
              <a:buClr>
                <a:srgbClr val="1FA7E1"/>
              </a:buClr>
              <a:buFont typeface="Arial"/>
              <a:buChar char="•"/>
            </a:pPr>
            <a:r>
              <a:rPr sz="1500" b="0" i="0">
                <a:solidFill>
                  <a:srgbClr val="B2CBE5"/>
                </a:solidFill>
                <a:latin typeface="Pretendard"/>
                <a:ea typeface="Pretendard"/>
                <a:cs typeface="Pretendard"/>
              </a:rPr>
              <a:t>Functional enrichment: ORA vs. GSEA</a:t>
            </a:r>
          </a:p>
          <a:p>
            <a:pPr algn="l" marL="155448" indent="-155448">
              <a:spcAft>
                <a:spcPts val="600"/>
              </a:spcAft>
              <a:buClr>
                <a:srgbClr val="1FA7E1"/>
              </a:buClr>
              <a:buFont typeface="Arial"/>
              <a:buChar char="•"/>
            </a:pPr>
            <a:r>
              <a:rPr sz="1500" b="0" i="0">
                <a:solidFill>
                  <a:srgbClr val="B2CBE5"/>
                </a:solidFill>
                <a:latin typeface="Pretendard"/>
                <a:ea typeface="Pretendard"/>
                <a:cs typeface="Pretendard"/>
              </a:rPr>
              <a:t>PPI network: STRING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Part 03 · Downstream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Differential Expression (DE)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Select differentially expressed proteins by fold change and FDR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29" name="슬라이드 번호 개체 틀 8">
            <a:extLst>
              <a:ext uri="{FF2B5EF4-FFF2-40B4-BE49-F238E27FC236}">
                <a16:creationId xmlns:a16="http://schemas.microsoft.com/office/drawing/2014/main" id="{D50649B0-8C95-ACB8-E146-F4DACBF93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9433" y="6435007"/>
            <a:ext cx="2743200" cy="365125"/>
          </a:xfrm>
        </p:spPr>
        <p:txBody>
          <a:bodyPr/>
          <a:lstStyle/>
          <a:p>
            <a:fld id="{8829373E-CD8E-4DEB-9966-45D0690BCFEE}" type="slidenum">
              <a:rPr lang="ko-KR" altLang="en-US" smtClean="0"/>
              <a:pPr/>
              <a:t>2</a:t>
            </a:fld>
            <a:endParaRPr lang="ko-KR" altLang="en-US"/>
          </a:p>
        </p:txBody>
      </p:sp>
      <p:pic>
        <p:nvPicPr>
          <p:cNvPr id="30" name="Picture 29" descr="volc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103120"/>
            <a:ext cx="4937760" cy="379827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96112" y="59893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050" b="0" i="0">
                <a:solidFill>
                  <a:srgbClr val="5B6B80"/>
                </a:solidFill>
                <a:latin typeface="Pretendard"/>
                <a:ea typeface="Pretendard"/>
                <a:cs typeface="Pretendard"/>
              </a:rPr>
              <a:t>Hands-on data: HFD vs HSD (FDR &lt; 0.05, 1.5-fold)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2194560"/>
            <a:ext cx="5120640" cy="105156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55080" y="2496312"/>
            <a:ext cx="438912" cy="438912"/>
          </a:xfrm>
          <a:prstGeom prst="ellipse">
            <a:avLst/>
          </a:prstGeom>
          <a:solidFill>
            <a:srgbClr val="1FA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2304288"/>
            <a:ext cx="4206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400" b="1" i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Effect size</a:t>
            </a:r>
          </a:p>
          <a:p>
            <a:pPr algn="l">
              <a:spcAft>
                <a:spcPts val="3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log2 fold change (1 = 2-fold up, −1 = half)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3383280"/>
            <a:ext cx="5120640" cy="105156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355080" y="3685032"/>
            <a:ext cx="438912" cy="438912"/>
          </a:xfrm>
          <a:prstGeom prst="ellipse">
            <a:avLst/>
          </a:prstGeom>
          <a:solidFill>
            <a:srgbClr val="1FA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3493008"/>
            <a:ext cx="4206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400" b="1" i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Statistical test</a:t>
            </a:r>
          </a:p>
          <a:p>
            <a:pPr algn="l">
              <a:spcAft>
                <a:spcPts val="3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t-test or limma (next slide); BH multiple-testing correction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4572000"/>
            <a:ext cx="5120640" cy="105156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355080" y="4873752"/>
            <a:ext cx="438912" cy="438912"/>
          </a:xfrm>
          <a:prstGeom prst="ellipse">
            <a:avLst/>
          </a:prstGeom>
          <a:solidFill>
            <a:srgbClr val="1FA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4681728"/>
            <a:ext cx="4206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400" b="1" i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Cutoff</a:t>
            </a:r>
          </a:p>
          <a:p>
            <a:pPr algn="l">
              <a:spcAft>
                <a:spcPts val="3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e.g., |log2FC| ≥ 1, adj. p &lt; 0.05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200" y="587044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5B6B80"/>
                </a:solidFill>
                <a:latin typeface="Pretendard"/>
                <a:ea typeface="Pretendard"/>
                <a:cs typeface="Pretendard"/>
              </a:rPr>
              <a:t>Tools: limma (R), Perseus, MetaboAnalyst (web)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Part 03 · Downstream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t-test vs. limma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Choosing a test by sample size and design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29" name="슬라이드 번호 개체 틀 8">
            <a:extLst>
              <a:ext uri="{FF2B5EF4-FFF2-40B4-BE49-F238E27FC236}">
                <a16:creationId xmlns:a16="http://schemas.microsoft.com/office/drawing/2014/main" id="{D50649B0-8C95-ACB8-E146-F4DACBF93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9433" y="6435007"/>
            <a:ext cx="2743200" cy="365125"/>
          </a:xfrm>
        </p:spPr>
        <p:txBody>
          <a:bodyPr/>
          <a:lstStyle/>
          <a:p>
            <a:fld id="{8829373E-CD8E-4DEB-9966-45D0690BCFEE}" type="slidenum">
              <a:rPr lang="ko-KR" altLang="en-US" smtClean="0"/>
              <a:pPr/>
              <a:t>2</a:t>
            </a:fld>
            <a:endParaRPr lang="ko-KR" altLang="en-US"/>
          </a:p>
        </p:txBody>
      </p:sp>
      <p:pic>
        <p:nvPicPr>
          <p:cNvPr id="30" name="Picture 29" descr="shr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148840"/>
            <a:ext cx="4114800" cy="289906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96112" y="5120640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50" b="0" i="0">
                <a:solidFill>
                  <a:srgbClr val="5B6B80"/>
                </a:solidFill>
                <a:latin typeface="Pretendard"/>
                <a:ea typeface="Pretendard"/>
                <a:cs typeface="Pretendard"/>
              </a:rPr>
              <a:t>With small n, per-protein variance is unstable; limma borrows information across proteins to stabilize it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5349240" y="2148840"/>
          <a:ext cx="5943600" cy="32918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97280"/>
                <a:gridCol w="2240280"/>
                <a:gridCol w="2606040"/>
              </a:tblGrid>
              <a:tr h="54864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0F2A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t-test (Welch)</a:t>
                      </a:r>
                    </a:p>
                  </a:txBody>
                  <a:tcPr marL="91440" marR="91440" marT="45720" marB="45720" anchor="ctr">
                    <a:solidFill>
                      <a:srgbClr val="5B6B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limma (moderated t)</a:t>
                      </a:r>
                    </a:p>
                  </a:txBody>
                  <a:tcPr marL="91440" marR="91440" marT="45720" marB="45720" anchor="ctr">
                    <a:solidFill>
                      <a:srgbClr val="1FA7E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150" b="1" i="0">
                          <a:solidFill>
                            <a:srgbClr val="0B1F3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Variance</a:t>
                      </a:r>
                    </a:p>
                  </a:txBody>
                  <a:tcPr marL="91440" marR="91440" marT="45720" marB="45720" anchor="ctr"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That protein only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Shrunk with all proteins (empirical Bayes)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150" b="1" i="0">
                          <a:solidFill>
                            <a:srgbClr val="0B1F3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Strength</a:t>
                      </a:r>
                    </a:p>
                  </a:txBody>
                  <a:tcPr marL="91440" marR="91440" marT="45720" marB="45720" anchor="ctr"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Simple, easy to explain</a:t>
                      </a:r>
                    </a:p>
                  </a:txBody>
                  <a:tcPr marL="91440" marR="91440" marT="45720" marB="45720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Stable at small n, more power</a:t>
                      </a:r>
                    </a:p>
                  </a:txBody>
                  <a:tcPr marL="91440" marR="91440" marT="45720" marB="45720" anchor="ctr">
                    <a:solidFill>
                      <a:srgbClr val="F2F5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150" b="1" i="0">
                          <a:solidFill>
                            <a:srgbClr val="0B1F3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Design</a:t>
                      </a:r>
                    </a:p>
                  </a:txBody>
                  <a:tcPr marL="91440" marR="91440" marT="45720" marB="45720" anchor="ctr"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Two groups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Paired, covariates (batch, sex), 3+ groups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150" b="1" i="0">
                          <a:solidFill>
                            <a:srgbClr val="0B1F3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Caveat</a:t>
                      </a:r>
                    </a:p>
                  </a:txBody>
                  <a:tcPr marL="91440" marR="91440" marT="45720" marB="45720" anchor="ctr"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More false positives/negatives at small n</a:t>
                      </a:r>
                    </a:p>
                  </a:txBody>
                  <a:tcPr marL="91440" marR="91440" marT="45720" marB="45720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Filter proteins with many missing values first</a:t>
                      </a:r>
                    </a:p>
                  </a:txBody>
                  <a:tcPr marL="91440" marR="91440" marT="45720" marB="45720" anchor="ctr">
                    <a:solidFill>
                      <a:srgbClr val="F2F5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150" b="1" i="0">
                          <a:solidFill>
                            <a:srgbClr val="0B1F3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Use when</a:t>
                      </a:r>
                    </a:p>
                  </a:txBody>
                  <a:tcPr marL="91440" marR="91440" marT="45720" marB="45720" anchor="ctr"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150" b="1" i="0">
                          <a:solidFill>
                            <a:srgbClr val="0B1F3A"/>
                          </a:solidFill>
                          <a:latin typeface="Pretendard"/>
                          <a:ea typeface="Pretendard"/>
                          <a:cs typeface="Pretendard"/>
                        </a:rPr>
                        <a:t>Simple comparison with enough samples per group</a:t>
                      </a:r>
                    </a:p>
                  </a:txBody>
                  <a:tcPr marL="91440" marR="91440" marT="45720" marB="45720" anchor="ctr"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150" b="1" i="0">
                          <a:solidFill>
                            <a:srgbClr val="0B1F3A"/>
                          </a:solidFill>
                          <a:latin typeface="Pretendard"/>
                          <a:ea typeface="Pretendard"/>
                          <a:cs typeface="Pretendard"/>
                        </a:rPr>
                        <a:t>Small n (e.g., 3–5 per group) or covariates</a:t>
                      </a:r>
                    </a:p>
                  </a:txBody>
                  <a:tcPr marL="91440" marR="91440" marT="45720" marB="45720" anchor="ctr">
                    <a:solidFill>
                      <a:srgbClr val="E6EEF6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5349240" y="5577840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1" i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Both: </a:t>
            </a:r>
            <a:r>
              <a:rPr sz="120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thousands of proteins tested at once, so BH-FDR is required. Hands-on starts from limma results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Part 03 · Downstream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Functional Enrichment: ORA &amp; GSEA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Two ways to interpret DE results at the function and pathway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29" name="슬라이드 번호 개체 틀 8">
            <a:extLst>
              <a:ext uri="{FF2B5EF4-FFF2-40B4-BE49-F238E27FC236}">
                <a16:creationId xmlns:a16="http://schemas.microsoft.com/office/drawing/2014/main" id="{D50649B0-8C95-ACB8-E146-F4DACBF93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9433" y="6435007"/>
            <a:ext cx="2743200" cy="365125"/>
          </a:xfrm>
        </p:spPr>
        <p:txBody>
          <a:bodyPr/>
          <a:lstStyle/>
          <a:p>
            <a:fld id="{8829373E-CD8E-4DEB-9966-45D0690BCFEE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30" name="Rounded Rectangle 29"/>
          <p:cNvSpPr/>
          <p:nvPr/>
        </p:nvSpPr>
        <p:spPr>
          <a:xfrm>
            <a:off x="896112" y="2103120"/>
            <a:ext cx="5029200" cy="301752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spcAft>
                <a:spcPts val="4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ORA (Over-Representation Analysis)</a:t>
            </a:r>
          </a:p>
        </p:txBody>
      </p:sp>
      <p:pic>
        <p:nvPicPr>
          <p:cNvPr id="31" name="Picture 30" descr="o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530" y="2514600"/>
            <a:ext cx="4290364" cy="23317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87552" y="4937760"/>
            <a:ext cx="4846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55448" indent="-155448">
              <a:spcAft>
                <a:spcPts val="300"/>
              </a:spcAft>
              <a:buClr>
                <a:srgbClr val="1FA7E1"/>
              </a:buClr>
              <a:buFont typeface="Arial"/>
              <a:buChar char="•"/>
            </a:pPr>
            <a:r>
              <a:rPr sz="125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Tests overlap between DE proteins and a gene set (hypergeometric test)</a:t>
            </a:r>
          </a:p>
          <a:p>
            <a:pPr algn="l" marL="155448" indent="-155448">
              <a:spcAft>
                <a:spcPts val="300"/>
              </a:spcAft>
              <a:buClr>
                <a:srgbClr val="1FA7E1"/>
              </a:buClr>
              <a:buFont typeface="Arial"/>
              <a:buChar char="•"/>
            </a:pPr>
            <a:r>
              <a:rPr sz="125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Background = all proteins detected in the experiment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7552" y="5715000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F6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>
              <a:spcAft>
                <a:spcPts val="400"/>
              </a:spcAft>
              <a:buNone/>
            </a:pPr>
            <a:r>
              <a:rPr sz="1100" b="1" i="0">
                <a:solidFill>
                  <a:srgbClr val="9E4A6C"/>
                </a:solidFill>
                <a:latin typeface="Pretendard SemiBold"/>
                <a:ea typeface="Pretendard SemiBold"/>
                <a:cs typeface="Pretendard SemiBold"/>
              </a:rPr>
              <a:t>g:Profiler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40280" y="5715000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F6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>
              <a:spcAft>
                <a:spcPts val="400"/>
              </a:spcAft>
              <a:buNone/>
            </a:pPr>
            <a:r>
              <a:rPr sz="1100" b="1" i="0">
                <a:solidFill>
                  <a:srgbClr val="9E4A6C"/>
                </a:solidFill>
                <a:latin typeface="Pretendard SemiBold"/>
                <a:ea typeface="Pretendard SemiBold"/>
                <a:cs typeface="Pretendard SemiBold"/>
              </a:rPr>
              <a:t>Enrichr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46120" y="5715000"/>
            <a:ext cx="1554479" cy="329184"/>
          </a:xfrm>
          <a:prstGeom prst="roundRect">
            <a:avLst>
              <a:gd name="adj" fmla="val 50000"/>
            </a:avLst>
          </a:prstGeom>
          <a:solidFill>
            <a:srgbClr val="DF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>
              <a:spcAft>
                <a:spcPts val="400"/>
              </a:spcAft>
              <a:buNone/>
            </a:pPr>
            <a:r>
              <a:rPr sz="1100" b="1" i="0">
                <a:solidFill>
                  <a:srgbClr val="0E6F9C"/>
                </a:solidFill>
                <a:latin typeface="Pretendard SemiBold"/>
                <a:ea typeface="Pretendard SemiBold"/>
                <a:cs typeface="Pretendard SemiBold"/>
              </a:rPr>
              <a:t>clusterProfiler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72784" y="2103120"/>
            <a:ext cx="5029200" cy="301752"/>
          </a:xfrm>
          <a:prstGeom prst="roundRect">
            <a:avLst>
              <a:gd name="adj" fmla="val 50000"/>
            </a:avLst>
          </a:prstGeom>
          <a:solidFill>
            <a:srgbClr val="1FA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spcAft>
                <a:spcPts val="4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GSEA (Gene Set Enrichment Analysis)</a:t>
            </a:r>
          </a:p>
        </p:txBody>
      </p:sp>
      <p:pic>
        <p:nvPicPr>
          <p:cNvPr id="37" name="Picture 36" descr="gs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868" y="2514600"/>
            <a:ext cx="4215032" cy="233172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364224" y="4937760"/>
            <a:ext cx="4846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55448" indent="-155448">
              <a:spcAft>
                <a:spcPts val="300"/>
              </a:spcAft>
              <a:buClr>
                <a:srgbClr val="1FA7E1"/>
              </a:buClr>
              <a:buFont typeface="Arial"/>
              <a:buChar char="•"/>
            </a:pPr>
            <a:r>
              <a:rPr sz="125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Ranks all proteins by a metric and tests whether a gene set is skewed to one end</a:t>
            </a:r>
          </a:p>
          <a:p>
            <a:pPr algn="l" marL="155448" indent="-155448">
              <a:spcAft>
                <a:spcPts val="300"/>
              </a:spcAft>
              <a:buClr>
                <a:srgbClr val="1FA7E1"/>
              </a:buClr>
              <a:buFont typeface="Arial"/>
              <a:buChar char="•"/>
            </a:pPr>
            <a:r>
              <a:rPr sz="125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Uses the whole distribution, no cutoff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64224" y="5715000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F6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>
              <a:spcAft>
                <a:spcPts val="400"/>
              </a:spcAft>
              <a:buNone/>
            </a:pPr>
            <a:r>
              <a:rPr sz="1100" b="1" i="0">
                <a:solidFill>
                  <a:srgbClr val="9E4A6C"/>
                </a:solidFill>
                <a:latin typeface="Pretendard SemiBold"/>
                <a:ea typeface="Pretendard SemiBold"/>
                <a:cs typeface="Pretendard SemiBold"/>
              </a:rPr>
              <a:t>WebGestalt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16952" y="5715000"/>
            <a:ext cx="649224" cy="329184"/>
          </a:xfrm>
          <a:prstGeom prst="roundRect">
            <a:avLst>
              <a:gd name="adj" fmla="val 50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>
              <a:spcAft>
                <a:spcPts val="400"/>
              </a:spcAft>
              <a:buNone/>
            </a:pPr>
            <a:r>
              <a:rPr sz="1100" b="1" i="0">
                <a:solidFill>
                  <a:srgbClr val="003399"/>
                </a:solidFill>
                <a:latin typeface="Pretendard SemiBold"/>
                <a:ea typeface="Pretendard SemiBold"/>
                <a:cs typeface="Pretendard SemiBold"/>
              </a:rPr>
              <a:t>GSEA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75904" y="5715000"/>
            <a:ext cx="1472184" cy="329184"/>
          </a:xfrm>
          <a:prstGeom prst="roundRect">
            <a:avLst>
              <a:gd name="adj" fmla="val 50000"/>
            </a:avLst>
          </a:prstGeom>
          <a:solidFill>
            <a:srgbClr val="DF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>
              <a:spcAft>
                <a:spcPts val="400"/>
              </a:spcAft>
              <a:buNone/>
            </a:pPr>
            <a:r>
              <a:rPr sz="1100" b="1" i="0">
                <a:solidFill>
                  <a:srgbClr val="0E6F9C"/>
                </a:solidFill>
                <a:latin typeface="Pretendard SemiBold"/>
                <a:ea typeface="Pretendard SemiBold"/>
                <a:cs typeface="Pretendard SemiBold"/>
              </a:rPr>
              <a:t>fgsea · gseapy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72784" y="614476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000" b="0" i="0">
                <a:solidFill>
                  <a:srgbClr val="5B6B80"/>
                </a:solidFill>
                <a:latin typeface="Pretendard"/>
                <a:ea typeface="Pretendard"/>
                <a:cs typeface="Pretendard"/>
              </a:rPr>
              <a:t>Gene set DB: GO, KEGG, Reactome, MSigDB Hallmark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Part 03 · Downstream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ORA vs. GSEA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Choosing a method by your DE results and question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29" name="슬라이드 번호 개체 틀 8">
            <a:extLst>
              <a:ext uri="{FF2B5EF4-FFF2-40B4-BE49-F238E27FC236}">
                <a16:creationId xmlns:a16="http://schemas.microsoft.com/office/drawing/2014/main" id="{D50649B0-8C95-ACB8-E146-F4DACBF93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9433" y="6435007"/>
            <a:ext cx="2743200" cy="365125"/>
          </a:xfrm>
        </p:spPr>
        <p:txBody>
          <a:bodyPr/>
          <a:lstStyle/>
          <a:p>
            <a:fld id="{8829373E-CD8E-4DEB-9966-45D0690BCFEE}" type="slidenum">
              <a:rPr lang="ko-KR" altLang="en-US" smtClean="0"/>
              <a:pPr/>
              <a:t>2</a:t>
            </a:fld>
            <a:endParaRPr lang="ko-KR" altLang="en-US"/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896112" y="2148840"/>
          <a:ext cx="10405872" cy="36118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188720"/>
                <a:gridCol w="4608576"/>
                <a:gridCol w="4608576"/>
              </a:tblGrid>
              <a:tr h="4572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0F2A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ORA</a:t>
                      </a:r>
                    </a:p>
                  </a:txBody>
                  <a:tcPr marL="91440" marR="91440" marT="45720" marB="45720" anchor="ctr">
                    <a:solidFill>
                      <a:srgbClr val="00339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GSEA</a:t>
                      </a:r>
                    </a:p>
                  </a:txBody>
                  <a:tcPr marL="91440" marR="91440" marT="45720" marB="45720" anchor="ctr">
                    <a:solidFill>
                      <a:srgbClr val="1FA7E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200" b="1" i="0">
                          <a:solidFill>
                            <a:srgbClr val="0B1F3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Question</a:t>
                      </a:r>
                    </a:p>
                  </a:txBody>
                  <a:tcPr marL="91440" marR="91440" marT="45720" marB="45720" anchor="ctr"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What are my significant proteins?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Which pathways shift as a whole?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200" b="1" i="0">
                          <a:solidFill>
                            <a:srgbClr val="0B1F3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Input</a:t>
                      </a:r>
                    </a:p>
                  </a:txBody>
                  <a:tcPr marL="91440" marR="91440" marT="45720" marB="45720" anchor="ctr"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DE protein list + background</a:t>
                      </a:r>
                    </a:p>
                  </a:txBody>
                  <a:tcPr marL="91440" marR="91440" marT="45720" marB="45720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All proteins + ranking metric (t, log2FC, etc.)</a:t>
                      </a:r>
                    </a:p>
                  </a:txBody>
                  <a:tcPr marL="91440" marR="91440" marT="45720" marB="45720" anchor="ctr">
                    <a:solidFill>
                      <a:srgbClr val="F2F5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200" b="1" i="0">
                          <a:solidFill>
                            <a:srgbClr val="0B1F3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Statistics</a:t>
                      </a:r>
                    </a:p>
                  </a:txBody>
                  <a:tcPr marL="91440" marR="91440" marT="45720" marB="45720" anchor="ctr"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Hypergeometric / Fisher's exact test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Running enrichment score + permutation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200" b="1" i="0">
                          <a:solidFill>
                            <a:srgbClr val="0B1F3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Strength</a:t>
                      </a:r>
                    </a:p>
                  </a:txBody>
                  <a:tcPr marL="91440" marR="91440" marT="45720" marB="45720" anchor="ctr"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Intuitive, fast, many web tools</a:t>
                      </a:r>
                    </a:p>
                  </a:txBody>
                  <a:tcPr marL="91440" marR="91440" marT="45720" marB="45720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No cutoff; detects small consistent shifts; gives direction</a:t>
                      </a:r>
                    </a:p>
                  </a:txBody>
                  <a:tcPr marL="91440" marR="91440" marT="45720" marB="45720" anchor="ctr">
                    <a:solidFill>
                      <a:srgbClr val="F2F5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200" b="1" i="0">
                          <a:solidFill>
                            <a:srgbClr val="0B1F3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Limitation</a:t>
                      </a:r>
                    </a:p>
                  </a:txBody>
                  <a:tcPr marL="91440" marR="91440" marT="45720" marB="45720" anchor="ctr"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Results depend on cutoff and background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Low gene-set coverage when few proteins are quantified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200" b="1" i="0">
                          <a:solidFill>
                            <a:srgbClr val="0B1F3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Use when</a:t>
                      </a:r>
                    </a:p>
                  </a:txBody>
                  <a:tcPr marL="91440" marR="91440" marT="45720" marB="45720" anchor="ctr"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200" b="1" i="0">
                          <a:solidFill>
                            <a:srgbClr val="0B1F3A"/>
                          </a:solidFill>
                          <a:latin typeface="Pretendard"/>
                          <a:ea typeface="Pretendard"/>
                          <a:cs typeface="Pretendard"/>
                        </a:rPr>
                        <a:t>Many clear DE proteins; interpreting a specific list (e.g., a cluster)</a:t>
                      </a:r>
                    </a:p>
                  </a:txBody>
                  <a:tcPr marL="91440" marR="91440" marT="45720" marB="45720" anchor="ctr"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200" b="1" i="0">
                          <a:solidFill>
                            <a:srgbClr val="0B1F3A"/>
                          </a:solidFill>
                          <a:latin typeface="Pretendard"/>
                          <a:ea typeface="Pretendard"/>
                          <a:cs typeface="Pretendard"/>
                        </a:rPr>
                        <a:t>Few DE proteins or subtle changes; direction of pathway changes</a:t>
                      </a:r>
                    </a:p>
                  </a:txBody>
                  <a:tcPr marL="91440" marR="91440" marT="45720" marB="45720" anchor="ctr">
                    <a:solidFill>
                      <a:srgbClr val="E6EEF6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896112" y="5897880"/>
            <a:ext cx="10405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5B6B80"/>
                </a:solidFill>
                <a:latin typeface="Pretendard"/>
                <a:ea typeface="Pretendard"/>
                <a:cs typeface="Pretendard"/>
              </a:rPr>
              <a:t>In practice, run both and start from the terms they share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Part 03 · Downstream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Protein Network: STRING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Known interactions among DE proteins as a network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29" name="슬라이드 번호 개체 틀 8">
            <a:extLst>
              <a:ext uri="{FF2B5EF4-FFF2-40B4-BE49-F238E27FC236}">
                <a16:creationId xmlns:a16="http://schemas.microsoft.com/office/drawing/2014/main" id="{D50649B0-8C95-ACB8-E146-F4DACBF93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9433" y="6435007"/>
            <a:ext cx="2743200" cy="365125"/>
          </a:xfrm>
        </p:spPr>
        <p:txBody>
          <a:bodyPr/>
          <a:lstStyle/>
          <a:p>
            <a:fld id="{8829373E-CD8E-4DEB-9966-45D0690BCFEE}" type="slidenum">
              <a:rPr lang="ko-KR" altLang="en-US" smtClean="0"/>
              <a:pPr/>
              <a:t>2</a:t>
            </a:fld>
            <a:endParaRPr lang="ko-KR" altLang="en-US"/>
          </a:p>
        </p:txBody>
      </p:sp>
      <p:pic>
        <p:nvPicPr>
          <p:cNvPr id="30" name="Picture 29" descr="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103120"/>
            <a:ext cx="4572000" cy="36576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96112" y="5897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050" b="0" i="0">
                <a:solidFill>
                  <a:srgbClr val="5B6B80"/>
                </a:solidFill>
                <a:latin typeface="Pretendard"/>
                <a:ea typeface="Pretendard"/>
                <a:cs typeface="Pretendard"/>
              </a:rPr>
              <a:t>Example network (color: cluster, size: degree)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89320" y="2194560"/>
            <a:ext cx="5303520" cy="749808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91440" bIns="91440" wrap="square"/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rgbClr val="003399"/>
                </a:solidFill>
                <a:latin typeface="Pretendard SemiBold"/>
                <a:ea typeface="Pretendard SemiBold"/>
                <a:cs typeface="Pretendard SemiBold"/>
              </a:rPr>
              <a:t>Input   </a:t>
            </a:r>
            <a:r>
              <a:rPr sz="125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DE protein list (gene symbols)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89320" y="3063239"/>
            <a:ext cx="5303520" cy="749808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91440" bIns="91440" wrap="square"/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rgbClr val="003399"/>
                </a:solidFill>
                <a:latin typeface="Pretendard SemiBold"/>
                <a:ea typeface="Pretendard SemiBold"/>
                <a:cs typeface="Pretendard SemiBold"/>
              </a:rPr>
              <a:t>Output   </a:t>
            </a:r>
            <a:r>
              <a:rPr sz="125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PPI network, functional enrichment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89320" y="3931920"/>
            <a:ext cx="5303520" cy="749808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91440" bIns="91440" wrap="square"/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rgbClr val="003399"/>
                </a:solidFill>
                <a:latin typeface="Pretendard SemiBold"/>
                <a:ea typeface="Pretendard SemiBold"/>
                <a:cs typeface="Pretendard SemiBold"/>
              </a:rPr>
              <a:t>Read   </a:t>
            </a:r>
            <a:r>
              <a:rPr sz="125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Clusters (functional modules) and hub proteins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89320" y="4800600"/>
            <a:ext cx="5303520" cy="749808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91440" bIns="91440" wrap="square"/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rgbClr val="003399"/>
                </a:solidFill>
                <a:latin typeface="Pretendard SemiBold"/>
                <a:ea typeface="Pretendard SemiBold"/>
                <a:cs typeface="Pretendard SemiBold"/>
              </a:rPr>
              <a:t>Tools   </a:t>
            </a:r>
            <a:r>
              <a:rPr sz="125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STRING (web), Cytoscape stringApp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57607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50" b="0" i="0">
                <a:solidFill>
                  <a:srgbClr val="5B6B80"/>
                </a:solidFill>
                <a:latin typeface="Pretendard"/>
                <a:ea typeface="Pretendard"/>
                <a:cs typeface="Pretendard"/>
              </a:rPr>
              <a:t>STRING interactions are database evidence, not proof of physical binding in your samples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96112" y="2331720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000" b="1" i="0">
                <a:solidFill>
                  <a:srgbClr val="1FA7E1"/>
                </a:solidFill>
                <a:latin typeface="Pretendard SemiBold"/>
                <a:ea typeface="Pretendard SemiBold"/>
                <a:cs typeface="Pretendard SemiBold"/>
              </a:rPr>
              <a:t>Part 04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96112" y="2788920"/>
            <a:ext cx="7772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40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4069080"/>
            <a:ext cx="6858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55448" indent="-155448">
              <a:spcAft>
                <a:spcPts val="600"/>
              </a:spcAft>
              <a:buClr>
                <a:srgbClr val="1FA7E1"/>
              </a:buClr>
              <a:buFont typeface="Arial"/>
              <a:buChar char="•"/>
            </a:pPr>
            <a:r>
              <a:rPr sz="1500" b="0" i="0">
                <a:solidFill>
                  <a:srgbClr val="B2CBE5"/>
                </a:solidFill>
                <a:latin typeface="Pretendard"/>
                <a:ea typeface="Pretendard"/>
                <a:cs typeface="Pretendard"/>
              </a:rPr>
              <a:t>Dataset: high-fat vs high-starch diet, mouse liver</a:t>
            </a:r>
          </a:p>
          <a:p>
            <a:pPr algn="l" marL="155448" indent="-155448">
              <a:spcAft>
                <a:spcPts val="600"/>
              </a:spcAft>
              <a:buClr>
                <a:srgbClr val="1FA7E1"/>
              </a:buClr>
              <a:buFont typeface="Arial"/>
              <a:buChar char="•"/>
            </a:pPr>
            <a:r>
              <a:rPr sz="1500" b="0" i="0">
                <a:solidFill>
                  <a:srgbClr val="B2CBE5"/>
                </a:solidFill>
                <a:latin typeface="Pretendard"/>
                <a:ea typeface="Pretendard"/>
                <a:cs typeface="Pretendard"/>
              </a:rPr>
              <a:t>Choose a track: web tools or Colab notebook</a:t>
            </a:r>
          </a:p>
          <a:p>
            <a:pPr algn="l" marL="155448" indent="-155448">
              <a:spcAft>
                <a:spcPts val="600"/>
              </a:spcAft>
              <a:buClr>
                <a:srgbClr val="1FA7E1"/>
              </a:buClr>
              <a:buFont typeface="Arial"/>
              <a:buChar char="•"/>
            </a:pPr>
            <a:r>
              <a:rPr sz="1500" b="0" i="0">
                <a:solidFill>
                  <a:srgbClr val="B2CBE5"/>
                </a:solidFill>
                <a:latin typeface="Pretendard"/>
                <a:ea typeface="Pretendard"/>
                <a:cs typeface="Pretendard"/>
              </a:rPr>
              <a:t>DE results, enrichment, STRING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Part 04 · Hands-on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Hands-on Dataset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Mouse liver proteome: high-fat (HFD) vs high-starch (HSD) diet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29" name="슬라이드 번호 개체 틀 8">
            <a:extLst>
              <a:ext uri="{FF2B5EF4-FFF2-40B4-BE49-F238E27FC236}">
                <a16:creationId xmlns:a16="http://schemas.microsoft.com/office/drawing/2014/main" id="{D50649B0-8C95-ACB8-E146-F4DACBF93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9433" y="6435007"/>
            <a:ext cx="2743200" cy="365125"/>
          </a:xfrm>
        </p:spPr>
        <p:txBody>
          <a:bodyPr/>
          <a:lstStyle/>
          <a:p>
            <a:fld id="{8829373E-CD8E-4DEB-9966-45D0690BCFEE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30" name="Rounded Rectangle 29"/>
          <p:cNvSpPr/>
          <p:nvPr/>
        </p:nvSpPr>
        <p:spPr>
          <a:xfrm>
            <a:off x="896112" y="2103120"/>
            <a:ext cx="3154680" cy="301752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3271" y="2212848"/>
            <a:ext cx="868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1" i="0">
                <a:solidFill>
                  <a:srgbClr val="003399"/>
                </a:solidFill>
                <a:latin typeface="Pretendard SemiBold"/>
                <a:ea typeface="Pretendard SemiBold"/>
                <a:cs typeface="Pretendard SemiBold"/>
              </a:rPr>
              <a:t>Study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01952" y="2212848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Small et al., J Lipid Res 2024 (PXD054323)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1" y="2770632"/>
            <a:ext cx="868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1" i="0">
                <a:solidFill>
                  <a:srgbClr val="003399"/>
                </a:solidFill>
                <a:latin typeface="Pretendard SemiBold"/>
                <a:ea typeface="Pretendard SemiBold"/>
                <a:cs typeface="Pretendard SemiBold"/>
              </a:rPr>
              <a:t>Design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01952" y="2770632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C57BL/6J male, 4 weeks, HFD 14 vs HSD 13 (after QC)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1" y="3328415"/>
            <a:ext cx="868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1" i="0">
                <a:solidFill>
                  <a:srgbClr val="003399"/>
                </a:solidFill>
                <a:latin typeface="Pretendard SemiBold"/>
                <a:ea typeface="Pretendard SemiBold"/>
                <a:cs typeface="Pretendard SemiBold"/>
              </a:rPr>
              <a:t>Platform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01952" y="3328415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Label-free DDA (MaxLFQ), MaxQuant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1" y="3886200"/>
            <a:ext cx="868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1" i="0">
                <a:solidFill>
                  <a:srgbClr val="003399"/>
                </a:solidFill>
                <a:latin typeface="Pretendard SemiBold"/>
                <a:ea typeface="Pretendard SemiBold"/>
                <a:cs typeface="Pretendard SemiBold"/>
              </a:rPr>
              <a:t>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01952" y="3886200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1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proteinGroups.txt</a:t>
            </a:r>
            <a:r>
              <a:rPr sz="110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 from the authors' GitHub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1" y="4443984"/>
            <a:ext cx="868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1" i="0">
                <a:solidFill>
                  <a:srgbClr val="003399"/>
                </a:solidFill>
                <a:latin typeface="Pretendard SemiBold"/>
                <a:ea typeface="Pretendard SemiBold"/>
                <a:cs typeface="Pretendard SemiBold"/>
              </a:rPr>
              <a:t>Provided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01952" y="4443984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Protein × sample matrix, sample sheet, DE results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33672" y="2103120"/>
            <a:ext cx="3977639" cy="301752"/>
          </a:xfrm>
          <a:prstGeom prst="roundRect">
            <a:avLst>
              <a:gd name="adj" fmla="val 50000"/>
            </a:avLst>
          </a:prstGeom>
          <a:solidFill>
            <a:srgbClr val="0F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spcAft>
                <a:spcPts val="400"/>
              </a:spcAft>
              <a:buNone/>
            </a:pPr>
            <a:r>
              <a:rPr sz="115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Published result: Fig. 4A</a:t>
            </a:r>
          </a:p>
        </p:txBody>
      </p:sp>
      <p:pic>
        <p:nvPicPr>
          <p:cNvPr id="42" name="Picture 41" descr="paper_volc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672" y="2542032"/>
            <a:ext cx="3977639" cy="1043025"/>
          </a:xfrm>
          <a:prstGeom prst="rect">
            <a:avLst/>
          </a:prstGeom>
        </p:spPr>
      </p:pic>
      <p:pic>
        <p:nvPicPr>
          <p:cNvPr id="43" name="Picture 42" descr="paper_gs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672" y="3703320"/>
            <a:ext cx="3977639" cy="91403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4233672" y="4681728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50" b="0" i="0">
                <a:solidFill>
                  <a:srgbClr val="5B6B80"/>
                </a:solidFill>
                <a:latin typeface="Pretendard"/>
                <a:ea typeface="Pretendard"/>
                <a:cs typeface="Pretendard"/>
              </a:rPr>
              <a:t>Pink: HSD↑ · Olive: HFD↑ (from the authors' R report)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94192" y="2103120"/>
            <a:ext cx="2907792" cy="301752"/>
          </a:xfrm>
          <a:prstGeom prst="roundRect">
            <a:avLst>
              <a:gd name="adj" fmla="val 50000"/>
            </a:avLst>
          </a:prstGeom>
          <a:solidFill>
            <a:srgbClr val="0F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spcAft>
                <a:spcPts val="400"/>
              </a:spcAft>
              <a:buNone/>
            </a:pPr>
            <a:r>
              <a:rPr sz="115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Key changes (in HFD)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94192" y="2560320"/>
            <a:ext cx="2907792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503920" y="2734056"/>
            <a:ext cx="402336" cy="402336"/>
          </a:xfrm>
          <a:prstGeom prst="ellipse">
            <a:avLst/>
          </a:prstGeom>
          <a:solidFill>
            <a:srgbClr val="E58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06840" y="2596896"/>
            <a:ext cx="22402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  <a:buNone/>
            </a:pPr>
            <a:r>
              <a:rPr sz="1150" b="1" i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Lipogenic enzymes</a:t>
            </a:r>
          </a:p>
          <a:p>
            <a:pPr algn="l">
              <a:spcAft>
                <a:spcPts val="100"/>
              </a:spcAft>
              <a:buNone/>
            </a:pPr>
            <a:r>
              <a:rPr sz="950" b="0" i="0">
                <a:solidFill>
                  <a:srgbClr val="5B6B80"/>
                </a:solidFill>
                <a:latin typeface="Pretendard"/>
                <a:ea typeface="Pretendard"/>
                <a:cs typeface="Pretendard"/>
              </a:rPr>
              <a:t>Acaca, Acacb, Acly, Scd1, Fabp5, Me1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94192" y="3410712"/>
            <a:ext cx="2907792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503920" y="3584448"/>
            <a:ext cx="402336" cy="402336"/>
          </a:xfrm>
          <a:prstGeom prst="ellipse">
            <a:avLst/>
          </a:prstGeom>
          <a:solidFill>
            <a:srgbClr val="E58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06840" y="3447288"/>
            <a:ext cx="22402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  <a:buNone/>
            </a:pPr>
            <a:r>
              <a:rPr sz="1150" b="1" i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GSEA: biosynthesis · carbohydrate</a:t>
            </a:r>
          </a:p>
          <a:p>
            <a:pPr algn="l">
              <a:spcAft>
                <a:spcPts val="100"/>
              </a:spcAft>
              <a:buNone/>
            </a:pPr>
            <a:r>
              <a:rPr sz="950" b="0" i="0">
                <a:solidFill>
                  <a:srgbClr val="5B6B80"/>
                </a:solidFill>
                <a:latin typeface="Pretendard"/>
                <a:ea typeface="Pretendard"/>
                <a:cs typeface="Pretendard"/>
              </a:rPr>
              <a:t>lipid biosynthetic, carbohydrate metabolic process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394192" y="4261104"/>
            <a:ext cx="2907792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503920" y="4434840"/>
            <a:ext cx="402336" cy="402336"/>
          </a:xfrm>
          <a:prstGeom prst="ellipse">
            <a:avLst/>
          </a:prstGeom>
          <a:solidFill>
            <a:srgbClr val="8A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↑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06840" y="4297680"/>
            <a:ext cx="22402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  <a:buNone/>
            </a:pPr>
            <a:r>
              <a:rPr sz="1150" b="1" i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GSEA: catabolic processes</a:t>
            </a:r>
          </a:p>
          <a:p>
            <a:pPr algn="l">
              <a:spcAft>
                <a:spcPts val="100"/>
              </a:spcAft>
              <a:buNone/>
            </a:pPr>
            <a:r>
              <a:rPr sz="950" b="0" i="0">
                <a:solidFill>
                  <a:srgbClr val="5B6B80"/>
                </a:solidFill>
                <a:latin typeface="Pretendard"/>
                <a:ea typeface="Pretendard"/>
                <a:cs typeface="Pretendard"/>
              </a:rPr>
              <a:t>organic acid · small molecule · lipid catabolic process (Ech1, Cyp4a10)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96112" y="5394960"/>
            <a:ext cx="2395728" cy="77724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spcAft>
                <a:spcPts val="0"/>
              </a:spcAft>
              <a:buNone/>
            </a:pPr>
            <a:r>
              <a:rPr sz="1400" b="1" i="0">
                <a:solidFill>
                  <a:srgbClr val="1FA7E1"/>
                </a:solidFill>
                <a:latin typeface="Pretendard SemiBold"/>
                <a:ea typeface="Pretendard SemiBold"/>
                <a:cs typeface="Pretendard SemiBold"/>
              </a:rPr>
              <a:t>1  </a:t>
            </a:r>
            <a:r>
              <a:rPr sz="14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DE results</a:t>
            </a:r>
          </a:p>
          <a:p>
            <a:pPr algn="ctr">
              <a:spcAft>
                <a:spcPts val="0"/>
              </a:spcAft>
              <a:buNone/>
            </a:pPr>
            <a:r>
              <a:rPr sz="1100" b="0" i="0">
                <a:solidFill>
                  <a:srgbClr val="B2CBE5"/>
                </a:solidFill>
                <a:latin typeface="Pretendard"/>
                <a:ea typeface="Pretendard"/>
                <a:cs typeface="Pretendard"/>
              </a:rPr>
              <a:t>Table · volcano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3319272" y="5650992"/>
            <a:ext cx="219456" cy="256032"/>
          </a:xfrm>
          <a:prstGeom prst="rightArrow">
            <a:avLst/>
          </a:prstGeom>
          <a:solidFill>
            <a:srgbClr val="B2C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3566160" y="5394960"/>
            <a:ext cx="2395728" cy="77724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spcAft>
                <a:spcPts val="0"/>
              </a:spcAft>
              <a:buNone/>
            </a:pPr>
            <a:r>
              <a:rPr sz="1400" b="1" i="0">
                <a:solidFill>
                  <a:srgbClr val="1FA7E1"/>
                </a:solidFill>
                <a:latin typeface="Pretendard SemiBold"/>
                <a:ea typeface="Pretendard SemiBold"/>
                <a:cs typeface="Pretendard SemiBold"/>
              </a:rPr>
              <a:t>2  </a:t>
            </a:r>
            <a:r>
              <a:rPr sz="14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ORA</a:t>
            </a:r>
          </a:p>
          <a:p>
            <a:pPr algn="ctr">
              <a:spcAft>
                <a:spcPts val="0"/>
              </a:spcAft>
              <a:buNone/>
            </a:pPr>
            <a:r>
              <a:rPr sz="1100" b="0" i="0">
                <a:solidFill>
                  <a:srgbClr val="B2CBE5"/>
                </a:solidFill>
                <a:latin typeface="Pretendard"/>
                <a:ea typeface="Pretendard"/>
                <a:cs typeface="Pretendard"/>
              </a:rPr>
              <a:t>g:Profiler</a:t>
            </a:r>
          </a:p>
        </p:txBody>
      </p:sp>
      <p:sp>
        <p:nvSpPr>
          <p:cNvPr id="58" name="Right Arrow 57"/>
          <p:cNvSpPr/>
          <p:nvPr/>
        </p:nvSpPr>
        <p:spPr>
          <a:xfrm>
            <a:off x="5989320" y="5650992"/>
            <a:ext cx="219456" cy="256032"/>
          </a:xfrm>
          <a:prstGeom prst="rightArrow">
            <a:avLst/>
          </a:prstGeom>
          <a:solidFill>
            <a:srgbClr val="B2C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236208" y="5394960"/>
            <a:ext cx="2395728" cy="77724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spcAft>
                <a:spcPts val="0"/>
              </a:spcAft>
              <a:buNone/>
            </a:pPr>
            <a:r>
              <a:rPr sz="1400" b="1" i="0">
                <a:solidFill>
                  <a:srgbClr val="1FA7E1"/>
                </a:solidFill>
                <a:latin typeface="Pretendard SemiBold"/>
                <a:ea typeface="Pretendard SemiBold"/>
                <a:cs typeface="Pretendard SemiBold"/>
              </a:rPr>
              <a:t>3  </a:t>
            </a:r>
            <a:r>
              <a:rPr sz="14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GSEA</a:t>
            </a:r>
          </a:p>
          <a:p>
            <a:pPr algn="ctr">
              <a:spcAft>
                <a:spcPts val="0"/>
              </a:spcAft>
              <a:buNone/>
            </a:pPr>
            <a:r>
              <a:rPr sz="1100" b="0" i="0">
                <a:solidFill>
                  <a:srgbClr val="B2CBE5"/>
                </a:solidFill>
                <a:latin typeface="Pretendard"/>
                <a:ea typeface="Pretendard"/>
                <a:cs typeface="Pretendard"/>
              </a:rPr>
              <a:t>WebGestalt</a:t>
            </a:r>
          </a:p>
        </p:txBody>
      </p:sp>
      <p:sp>
        <p:nvSpPr>
          <p:cNvPr id="60" name="Right Arrow 59"/>
          <p:cNvSpPr/>
          <p:nvPr/>
        </p:nvSpPr>
        <p:spPr>
          <a:xfrm>
            <a:off x="8659368" y="5650992"/>
            <a:ext cx="219456" cy="256032"/>
          </a:xfrm>
          <a:prstGeom prst="rightArrow">
            <a:avLst/>
          </a:prstGeom>
          <a:solidFill>
            <a:srgbClr val="B2C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906256" y="5394960"/>
            <a:ext cx="2395728" cy="77724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spcAft>
                <a:spcPts val="0"/>
              </a:spcAft>
              <a:buNone/>
            </a:pPr>
            <a:r>
              <a:rPr sz="1400" b="1" i="0">
                <a:solidFill>
                  <a:srgbClr val="1FA7E1"/>
                </a:solidFill>
                <a:latin typeface="Pretendard SemiBold"/>
                <a:ea typeface="Pretendard SemiBold"/>
                <a:cs typeface="Pretendard SemiBold"/>
              </a:rPr>
              <a:t>4  </a:t>
            </a:r>
            <a:r>
              <a:rPr sz="14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STRING</a:t>
            </a:r>
          </a:p>
          <a:p>
            <a:pPr algn="ctr">
              <a:spcAft>
                <a:spcPts val="0"/>
              </a:spcAft>
              <a:buNone/>
            </a:pPr>
            <a:r>
              <a:rPr sz="1100" b="0" i="0">
                <a:solidFill>
                  <a:srgbClr val="B2CBE5"/>
                </a:solidFill>
                <a:latin typeface="Pretendard"/>
                <a:ea typeface="Pretendard"/>
                <a:cs typeface="Pretendard"/>
              </a:rPr>
              <a:t>Network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Part 04 · Hands-on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Choose Your Track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Pick web tools or the Colab notebook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29" name="슬라이드 번호 개체 틀 8">
            <a:extLst>
              <a:ext uri="{FF2B5EF4-FFF2-40B4-BE49-F238E27FC236}">
                <a16:creationId xmlns:a16="http://schemas.microsoft.com/office/drawing/2014/main" id="{D50649B0-8C95-ACB8-E146-F4DACBF93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9433" y="6435007"/>
            <a:ext cx="2743200" cy="365125"/>
          </a:xfrm>
        </p:spPr>
        <p:txBody>
          <a:bodyPr/>
          <a:lstStyle/>
          <a:p>
            <a:fld id="{8829373E-CD8E-4DEB-9966-45D0690BCFEE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30" name="repo_banner"/>
          <p:cNvSpPr/>
          <p:nvPr/>
        </p:nvSpPr>
        <p:spPr>
          <a:xfrm>
            <a:off x="896112" y="2011680"/>
            <a:ext cx="10405872" cy="914400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/>
          <a:lstStyle/>
          <a:p>
            <a:pPr algn="ctr"/>
          </a:p>
        </p:txBody>
      </p:sp>
      <p:pic>
        <p:nvPicPr>
          <p:cNvPr id="31" name="repo_qr" descr="qr_re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2103120"/>
            <a:ext cx="731520" cy="7315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965960" y="2103120"/>
            <a:ext cx="14630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1" i="0">
                <a:solidFill>
                  <a:srgbClr val="1FA7E1"/>
                </a:solidFill>
                <a:latin typeface="Pretendard SemiBold"/>
                <a:ea typeface="Pretendard SemiBold"/>
                <a:cs typeface="Pretendard SemiBold"/>
              </a:rPr>
              <a:t>Materials</a:t>
            </a:r>
          </a:p>
        </p:txBody>
      </p:sp>
      <p:sp>
        <p:nvSpPr>
          <p:cNvPr id="33" name="repo_short_url"/>
          <p:cNvSpPr txBox="1"/>
          <p:nvPr/>
        </p:nvSpPr>
        <p:spPr>
          <a:xfrm>
            <a:off x="3429000" y="210312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4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bit.ly/4ic39tS</a:t>
            </a:r>
          </a:p>
        </p:txBody>
      </p:sp>
      <p:sp>
        <p:nvSpPr>
          <p:cNvPr id="34" name="repo_url"/>
          <p:cNvSpPr txBox="1"/>
          <p:nvPr/>
        </p:nvSpPr>
        <p:spPr>
          <a:xfrm>
            <a:off x="7955279" y="210312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200"/>
              </a:spcAft>
              <a:buNone/>
            </a:pPr>
            <a:r>
              <a:rPr sz="1200" b="0" i="0">
                <a:solidFill>
                  <a:srgbClr val="B2CBE5"/>
                </a:solidFill>
                <a:latin typeface="Pretendard"/>
                <a:ea typeface="Pretendard"/>
                <a:cs typeface="Pretendard"/>
              </a:rPr>
              <a:t>github.com/hyungwookc07/msdata-workshop</a:t>
            </a:r>
          </a:p>
          <a:p>
            <a:pPr algn="r">
              <a:spcAft>
                <a:spcPts val="200"/>
              </a:spcAft>
              <a:buNone/>
            </a:pPr>
            <a:r>
              <a:rPr sz="1100" b="0" i="0">
                <a:solidFill>
                  <a:srgbClr val="B2CBE5"/>
                </a:solidFill>
                <a:latin typeface="Pretendard"/>
                <a:ea typeface="Pretendard"/>
                <a:cs typeface="Pretendard"/>
              </a:rPr>
              <a:t>Data · Colab notebook · README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896112" y="3090672"/>
          <a:ext cx="10405872" cy="257860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63040"/>
                <a:gridCol w="4471416"/>
                <a:gridCol w="4471416"/>
              </a:tblGrid>
              <a:tr h="42976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Step</a:t>
                      </a:r>
                    </a:p>
                  </a:txBody>
                  <a:tcPr marL="91440" marR="91440" marT="45720" marB="45720" anchor="ctr">
                    <a:solidFill>
                      <a:srgbClr val="0F2A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Web</a:t>
                      </a:r>
                    </a:p>
                  </a:txBody>
                  <a:tcPr marL="91440" marR="91440" marT="45720" marB="45720" anchor="ctr">
                    <a:solidFill>
                      <a:srgbClr val="BF6A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Code (Colab notebook)</a:t>
                      </a:r>
                    </a:p>
                  </a:txBody>
                  <a:tcPr marL="91440" marR="91440" marT="45720" marB="45720" anchor="ctr">
                    <a:solidFill>
                      <a:srgbClr val="00339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200" b="1" i="0">
                          <a:solidFill>
                            <a:srgbClr val="0B1F3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Setup</a:t>
                      </a:r>
                    </a:p>
                  </a:txBody>
                  <a:tcPr marL="91440" marR="91440" marT="45720" marB="45720" anchor="ctr"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Web browser only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  <a:hlinkClick r:id="rId3"/>
                        </a:rPr>
                        <a:t>Browser + Google account (no install)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200" b="1" i="0">
                          <a:solidFill>
                            <a:srgbClr val="0B1F3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DE</a:t>
                      </a:r>
                    </a:p>
                  </a:txBody>
                  <a:tcPr marL="91440" marR="91440" marT="45720" marB="45720" anchor="ctr"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Provided DE results (limma)</a:t>
                      </a:r>
                    </a:p>
                  </a:txBody>
                  <a:tcPr marL="91440" marR="91440" marT="45720" marB="45720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Provided DE results (limma)</a:t>
                      </a:r>
                    </a:p>
                  </a:txBody>
                  <a:tcPr marL="91440" marR="91440" marT="45720" marB="45720" anchor="ctr">
                    <a:solidFill>
                      <a:srgbClr val="F2F5F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200" b="1" i="0">
                          <a:solidFill>
                            <a:srgbClr val="0B1F3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ORA</a:t>
                      </a:r>
                    </a:p>
                  </a:txBody>
                  <a:tcPr marL="91440" marR="91440" marT="45720" marB="45720" anchor="ctr"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  <a:hlinkClick r:id="rId4"/>
                        </a:rPr>
                        <a:t>g:Profiler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g:Profiler (same server)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200" b="1" i="0">
                          <a:solidFill>
                            <a:srgbClr val="0B1F3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GSEA</a:t>
                      </a:r>
                    </a:p>
                  </a:txBody>
                  <a:tcPr marL="91440" marR="91440" marT="45720" marB="45720" anchor="ctr"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  <a:hlinkClick r:id="rId5"/>
                        </a:rPr>
                        <a:t>WebGestalt (GSEA mode)</a:t>
                      </a:r>
                    </a:p>
                  </a:txBody>
                  <a:tcPr marL="91440" marR="91440" marT="45720" marB="45720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gseapy prerank</a:t>
                      </a:r>
                    </a:p>
                  </a:txBody>
                  <a:tcPr marL="91440" marR="91440" marT="45720" marB="45720" anchor="ctr">
                    <a:solidFill>
                      <a:srgbClr val="F2F5F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200" b="1" i="0">
                          <a:solidFill>
                            <a:srgbClr val="0B1F3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  <a:hlinkClick r:id="rId6"/>
                        </a:rPr>
                        <a:t>string-db.org, Cytoscape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  <a:cs typeface="Pretendard"/>
                        </a:rPr>
                        <a:t>STRING API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Rounded Rectangle 35"/>
          <p:cNvSpPr/>
          <p:nvPr/>
        </p:nvSpPr>
        <p:spPr>
          <a:xfrm>
            <a:off x="896112" y="5806440"/>
            <a:ext cx="3566160" cy="548640"/>
          </a:xfrm>
          <a:prstGeom prst="roundRect">
            <a:avLst>
              <a:gd name="adj" fmla="val 15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>
              <a:spcAft>
                <a:spcPts val="400"/>
              </a:spcAft>
              <a:buNone/>
            </a:pPr>
            <a:r>
              <a:rPr sz="1200" b="1" i="0">
                <a:solidFill>
                  <a:srgbClr val="BF6A8B"/>
                </a:solidFill>
                <a:latin typeface="Pretendard SemiBold"/>
                <a:ea typeface="Pretendard SemiBold"/>
                <a:cs typeface="Pretendard SemiBold"/>
              </a:rPr>
              <a:t>Web  </a:t>
            </a:r>
            <a:r>
              <a:rPr sz="110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For ORA, also upload the background (all detected proteins)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45152" y="5806440"/>
            <a:ext cx="3566160" cy="548640"/>
          </a:xfrm>
          <a:prstGeom prst="roundRect">
            <a:avLst>
              <a:gd name="adj" fmla="val 15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>
              <a:spcAft>
                <a:spcPts val="400"/>
              </a:spcAft>
              <a:buNone/>
            </a:pPr>
            <a:r>
              <a:rPr sz="1200" b="1" i="0">
                <a:solidFill>
                  <a:srgbClr val="003399"/>
                </a:solidFill>
                <a:latin typeface="Pretendard SemiBold"/>
                <a:ea typeface="Pretendard SemiBold"/>
                <a:cs typeface="Pretendard SemiBold"/>
              </a:rPr>
              <a:t>Code  </a:t>
            </a:r>
            <a:r>
              <a:rPr sz="110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Run cells top to bottom with Shift+Enter; no coding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94192" y="5806440"/>
            <a:ext cx="2907792" cy="548640"/>
          </a:xfrm>
          <a:prstGeom prst="roundRect">
            <a:avLst>
              <a:gd name="adj" fmla="val 15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>
              <a:spcAft>
                <a:spcPts val="400"/>
              </a:spcAft>
              <a:buNone/>
            </a:pPr>
            <a:r>
              <a:rPr sz="1200" b="1" i="0">
                <a:solidFill>
                  <a:srgbClr val="5B6B80"/>
                </a:solidFill>
                <a:latin typeface="Pretendard SemiBold"/>
                <a:ea typeface="Pretendard SemiBold"/>
                <a:cs typeface="Pretendard SemiBold"/>
              </a:rPr>
              <a:t>R users  </a:t>
            </a:r>
            <a:r>
              <a:rPr sz="110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Same workflow provided as R Markdown with limma code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Part 04 · Hands-on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Step 1 · DE Results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Find up- and down-regulated proteins in the limma results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29" name="슬라이드 번호 개체 틀 8">
            <a:extLst>
              <a:ext uri="{FF2B5EF4-FFF2-40B4-BE49-F238E27FC236}">
                <a16:creationId xmlns:a16="http://schemas.microsoft.com/office/drawing/2014/main" id="{D50649B0-8C95-ACB8-E146-F4DACBF93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9433" y="6435007"/>
            <a:ext cx="2743200" cy="365125"/>
          </a:xfrm>
        </p:spPr>
        <p:txBody>
          <a:bodyPr/>
          <a:lstStyle/>
          <a:p>
            <a:fld id="{8829373E-CD8E-4DEB-9966-45D0690BCFEE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30" name="Rounded Rectangle 29"/>
          <p:cNvSpPr/>
          <p:nvPr/>
        </p:nvSpPr>
        <p:spPr>
          <a:xfrm>
            <a:off x="896112" y="2103120"/>
            <a:ext cx="5989320" cy="301752"/>
          </a:xfrm>
          <a:prstGeom prst="roundRect">
            <a:avLst>
              <a:gd name="adj" fmla="val 50000"/>
            </a:avLst>
          </a:prstGeom>
          <a:solidFill>
            <a:srgbClr val="BF6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spcAft>
                <a:spcPts val="4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Web</a:t>
            </a:r>
          </a:p>
        </p:txBody>
      </p:sp>
      <p:sp>
        <p:nvSpPr>
          <p:cNvPr id="31" name="Oval 30"/>
          <p:cNvSpPr/>
          <p:nvPr/>
        </p:nvSpPr>
        <p:spPr>
          <a:xfrm>
            <a:off x="896112" y="2615184"/>
            <a:ext cx="365760" cy="365760"/>
          </a:xfrm>
          <a:prstGeom prst="ellipse">
            <a:avLst/>
          </a:prstGeom>
          <a:solidFill>
            <a:srgbClr val="BF6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</a:t>
            </a:r>
          </a:p>
        </p:txBody>
      </p:sp>
      <p:sp>
        <p:nvSpPr>
          <p:cNvPr id="32" name="TextBox 31">
            <a:hlinkClick r:id="rId2"/>
          </p:cNvPr>
          <p:cNvSpPr txBox="1"/>
          <p:nvPr/>
        </p:nvSpPr>
        <p:spPr>
          <a:xfrm>
            <a:off x="1417320" y="2560320"/>
            <a:ext cx="54406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50" b="0" i="0">
                <a:solidFill>
                  <a:srgbClr val="003399"/>
                </a:solidFill>
                <a:latin typeface="Pretendard"/>
                <a:ea typeface="Pretendard"/>
                <a:cs typeface="Pretendard"/>
              </a:rPr>
              <a:t>Open </a:t>
            </a:r>
            <a:r>
              <a:rPr sz="1250" b="1" i="0">
                <a:solidFill>
                  <a:srgbClr val="003399"/>
                </a:solidFill>
                <a:latin typeface="Pretendard"/>
                <a:ea typeface="Pretendard"/>
                <a:cs typeface="Pretendard"/>
              </a:rPr>
              <a:t>de_results_limma.csv</a:t>
            </a:r>
            <a:r>
              <a:rPr sz="1250" b="0" i="0">
                <a:solidFill>
                  <a:srgbClr val="003399"/>
                </a:solidFill>
                <a:latin typeface="Pretendard"/>
                <a:ea typeface="Pretendard"/>
                <a:cs typeface="Pretendard"/>
              </a:rPr>
              <a:t> in Excel or Google Sheets</a:t>
            </a:r>
          </a:p>
        </p:txBody>
      </p:sp>
      <p:sp>
        <p:nvSpPr>
          <p:cNvPr id="33" name="Oval 32"/>
          <p:cNvSpPr/>
          <p:nvPr/>
        </p:nvSpPr>
        <p:spPr>
          <a:xfrm>
            <a:off x="896112" y="3236976"/>
            <a:ext cx="365760" cy="365760"/>
          </a:xfrm>
          <a:prstGeom prst="ellipse">
            <a:avLst/>
          </a:prstGeom>
          <a:solidFill>
            <a:srgbClr val="BF6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3182112"/>
            <a:ext cx="54406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5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Sort by adj.P.Val and check the top proteins</a:t>
            </a:r>
          </a:p>
        </p:txBody>
      </p:sp>
      <p:sp>
        <p:nvSpPr>
          <p:cNvPr id="35" name="Oval 34"/>
          <p:cNvSpPr/>
          <p:nvPr/>
        </p:nvSpPr>
        <p:spPr>
          <a:xfrm>
            <a:off x="896112" y="3858768"/>
            <a:ext cx="365760" cy="365760"/>
          </a:xfrm>
          <a:prstGeom prst="ellipse">
            <a:avLst/>
          </a:prstGeom>
          <a:solidFill>
            <a:srgbClr val="BF6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3</a:t>
            </a:r>
          </a:p>
        </p:txBody>
      </p:sp>
      <p:sp>
        <p:nvSpPr>
          <p:cNvPr id="36" name="TextBox 35">
            <a:hlinkClick r:id="rId3"/>
          </p:cNvPr>
          <p:cNvSpPr txBox="1"/>
          <p:nvPr/>
        </p:nvSpPr>
        <p:spPr>
          <a:xfrm>
            <a:off x="1417320" y="3803904"/>
            <a:ext cx="54406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50" b="0" i="0">
                <a:solidFill>
                  <a:srgbClr val="003399"/>
                </a:solidFill>
                <a:latin typeface="Pretendard"/>
                <a:ea typeface="Pretendard"/>
                <a:cs typeface="Pretendard"/>
              </a:rPr>
              <a:t>Locate up/down proteins on the provided volcano plot</a:t>
            </a:r>
          </a:p>
        </p:txBody>
      </p:sp>
      <p:sp>
        <p:nvSpPr>
          <p:cNvPr id="37" name="Oval 36"/>
          <p:cNvSpPr/>
          <p:nvPr/>
        </p:nvSpPr>
        <p:spPr>
          <a:xfrm>
            <a:off x="896112" y="4480559"/>
            <a:ext cx="365760" cy="365760"/>
          </a:xfrm>
          <a:prstGeom prst="ellipse">
            <a:avLst/>
          </a:prstGeom>
          <a:solidFill>
            <a:srgbClr val="BF6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4</a:t>
            </a:r>
          </a:p>
        </p:txBody>
      </p:sp>
      <p:sp>
        <p:nvSpPr>
          <p:cNvPr id="38" name="TextBox 37">
            <a:hlinkClick r:id="rId4"/>
          </p:cNvPr>
          <p:cNvSpPr txBox="1"/>
          <p:nvPr/>
        </p:nvSpPr>
        <p:spPr>
          <a:xfrm>
            <a:off x="1417320" y="4425696"/>
            <a:ext cx="54406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50" b="0" i="0">
                <a:solidFill>
                  <a:srgbClr val="003399"/>
                </a:solidFill>
                <a:latin typeface="Pretendard"/>
                <a:ea typeface="Pretendard"/>
                <a:cs typeface="Pretendard"/>
              </a:rPr>
              <a:t>Have </a:t>
            </a:r>
            <a:r>
              <a:rPr sz="1250" b="1" i="0">
                <a:solidFill>
                  <a:srgbClr val="003399"/>
                </a:solidFill>
                <a:latin typeface="Pretendard"/>
                <a:ea typeface="Pretendard"/>
                <a:cs typeface="Pretendard"/>
              </a:rPr>
              <a:t>down_genes.txt</a:t>
            </a:r>
            <a:r>
              <a:rPr sz="1250" b="0" i="0">
                <a:solidFill>
                  <a:srgbClr val="003399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250" b="1" i="0">
                <a:solidFill>
                  <a:srgbClr val="003399"/>
                </a:solidFill>
                <a:latin typeface="Pretendard"/>
                <a:ea typeface="Pretendard"/>
                <a:cs typeface="Pretendard"/>
              </a:rPr>
              <a:t>up_genes.txt</a:t>
            </a:r>
            <a:r>
              <a:rPr sz="1250" b="0" i="0">
                <a:solidFill>
                  <a:srgbClr val="003399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250" b="1" i="0">
                <a:solidFill>
                  <a:srgbClr val="003399"/>
                </a:solidFill>
                <a:latin typeface="Pretendard"/>
                <a:ea typeface="Pretendard"/>
                <a:cs typeface="Pretendard"/>
              </a:rPr>
              <a:t>background.txt</a:t>
            </a:r>
            <a:r>
              <a:rPr sz="1250" b="0" i="0">
                <a:solidFill>
                  <a:srgbClr val="003399"/>
                </a:solidFill>
                <a:latin typeface="Pretendard"/>
                <a:ea typeface="Pretendard"/>
                <a:cs typeface="Pretendard"/>
              </a:rPr>
              <a:t> ready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78040" y="2103120"/>
            <a:ext cx="4114800" cy="301752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spcAft>
                <a:spcPts val="4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Colab notebook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78040" y="2542032"/>
            <a:ext cx="4114800" cy="1234440"/>
          </a:xfrm>
          <a:prstGeom prst="roundRect">
            <a:avLst>
              <a:gd name="adj" fmla="val 8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 bIns="91440" wrap="square"/>
          <a:lstStyle/>
          <a:p>
            <a:pPr algn="l">
              <a:spcAft>
                <a:spcPts val="400"/>
              </a:spcAft>
              <a:buNone/>
            </a:pPr>
            <a:r>
              <a:rPr sz="1200" b="1" i="0">
                <a:solidFill>
                  <a:srgbClr val="003399"/>
                </a:solidFill>
                <a:latin typeface="Pretendard SemiBold"/>
                <a:ea typeface="Pretendard SemiBold"/>
                <a:cs typeface="Pretendard SemiBold"/>
              </a:rPr>
              <a:t>Run section  </a:t>
            </a:r>
            <a:r>
              <a:rPr sz="1250" b="1" i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0. Setup → 1. DE results</a:t>
            </a:r>
          </a:p>
          <a:p>
            <a:pPr algn="l">
              <a:spcAft>
                <a:spcPts val="400"/>
              </a:spcAft>
              <a:buNone/>
            </a:pPr>
            <a:r>
              <a:rPr sz="115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Install packages, load results, set cutoffs, volcano plot</a:t>
            </a:r>
          </a:p>
          <a:p>
            <a:pPr algn="l">
              <a:spcAft>
                <a:spcPts val="400"/>
              </a:spcAft>
              <a:buNone/>
            </a:pPr>
            <a:r>
              <a:rPr sz="1150" b="1" i="0">
                <a:solidFill>
                  <a:srgbClr val="1F2937"/>
                </a:solidFill>
                <a:latin typeface="Pretendard SemiBold"/>
                <a:ea typeface="Pretendard SemiBold"/>
                <a:cs typeface="Pretendard SemiBold"/>
                <a:hlinkClick r:id="rId5"/>
              </a:rPr>
              <a:t>Open in Colab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178040" y="3931920"/>
            <a:ext cx="4114800" cy="224028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91440" bIns="91440" wrap="square"/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Check</a:t>
            </a:r>
          </a:p>
          <a:p>
            <a:pPr algn="l" marL="155448" indent="-155448">
              <a:spcAft>
                <a:spcPts val="600"/>
              </a:spcAft>
              <a:buClr>
                <a:srgbClr val="1FA7E1"/>
              </a:buClr>
              <a:buFont typeface="Arial"/>
              <a:buChar char="•"/>
            </a:pPr>
            <a:r>
              <a:rPr sz="120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Cutoff (FDR &lt; 0.05, 1.5-fold): 12 up · 23 down</a:t>
            </a:r>
          </a:p>
          <a:p>
            <a:pPr algn="l" marL="155448" indent="-155448">
              <a:spcAft>
                <a:spcPts val="600"/>
              </a:spcAft>
              <a:buClr>
                <a:srgbClr val="1FA7E1"/>
              </a:buClr>
              <a:buFont typeface="Arial"/>
              <a:buChar char="•"/>
            </a:pPr>
            <a:r>
              <a:rPr sz="120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Fasn, Acly, Acaca, Scd1 on the left of the volcano</a:t>
            </a:r>
          </a:p>
          <a:p>
            <a:pPr algn="l" marL="155448" indent="-155448">
              <a:spcAft>
                <a:spcPts val="600"/>
              </a:spcAft>
              <a:buClr>
                <a:srgbClr val="1FA7E1"/>
              </a:buClr>
              <a:buFont typeface="Arial"/>
              <a:buChar char="•"/>
            </a:pPr>
            <a:r>
              <a:rPr sz="120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How the counts change with the cutoff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Part 04 · Hands-on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Step 2 · ORA (g:Profiler)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Functions over-represented among down-regulated proteins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29" name="슬라이드 번호 개체 틀 8">
            <a:extLst>
              <a:ext uri="{FF2B5EF4-FFF2-40B4-BE49-F238E27FC236}">
                <a16:creationId xmlns:a16="http://schemas.microsoft.com/office/drawing/2014/main" id="{D50649B0-8C95-ACB8-E146-F4DACBF93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9433" y="6435007"/>
            <a:ext cx="2743200" cy="365125"/>
          </a:xfrm>
        </p:spPr>
        <p:txBody>
          <a:bodyPr/>
          <a:lstStyle/>
          <a:p>
            <a:fld id="{8829373E-CD8E-4DEB-9966-45D0690BCFEE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30" name="Rounded Rectangle 29"/>
          <p:cNvSpPr/>
          <p:nvPr/>
        </p:nvSpPr>
        <p:spPr>
          <a:xfrm>
            <a:off x="896112" y="2103120"/>
            <a:ext cx="5989320" cy="301752"/>
          </a:xfrm>
          <a:prstGeom prst="roundRect">
            <a:avLst>
              <a:gd name="adj" fmla="val 50000"/>
            </a:avLst>
          </a:prstGeom>
          <a:solidFill>
            <a:srgbClr val="BF6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spcAft>
                <a:spcPts val="4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Web</a:t>
            </a:r>
          </a:p>
        </p:txBody>
      </p:sp>
      <p:sp>
        <p:nvSpPr>
          <p:cNvPr id="31" name="Oval 30"/>
          <p:cNvSpPr/>
          <p:nvPr/>
        </p:nvSpPr>
        <p:spPr>
          <a:xfrm>
            <a:off x="896112" y="2615184"/>
            <a:ext cx="365760" cy="365760"/>
          </a:xfrm>
          <a:prstGeom prst="ellipse">
            <a:avLst/>
          </a:prstGeom>
          <a:solidFill>
            <a:srgbClr val="BF6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</a:t>
            </a:r>
          </a:p>
        </p:txBody>
      </p:sp>
      <p:sp>
        <p:nvSpPr>
          <p:cNvPr id="32" name="TextBox 31">
            <a:hlinkClick r:id="rId2"/>
          </p:cNvPr>
          <p:cNvSpPr txBox="1"/>
          <p:nvPr/>
        </p:nvSpPr>
        <p:spPr>
          <a:xfrm>
            <a:off x="1417320" y="2560320"/>
            <a:ext cx="54406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50" b="0" i="0">
                <a:solidFill>
                  <a:srgbClr val="003399"/>
                </a:solidFill>
                <a:latin typeface="Pretendard"/>
                <a:ea typeface="Pretendard"/>
                <a:cs typeface="Pretendard"/>
              </a:rPr>
              <a:t>Open g:Profiler (biit.cs.ut.ee/gprofiler)</a:t>
            </a:r>
          </a:p>
        </p:txBody>
      </p:sp>
      <p:sp>
        <p:nvSpPr>
          <p:cNvPr id="33" name="Oval 32"/>
          <p:cNvSpPr/>
          <p:nvPr/>
        </p:nvSpPr>
        <p:spPr>
          <a:xfrm>
            <a:off x="896112" y="3236976"/>
            <a:ext cx="365760" cy="365760"/>
          </a:xfrm>
          <a:prstGeom prst="ellipse">
            <a:avLst/>
          </a:prstGeom>
          <a:solidFill>
            <a:srgbClr val="BF6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2</a:t>
            </a:r>
          </a:p>
        </p:txBody>
      </p:sp>
      <p:sp>
        <p:nvSpPr>
          <p:cNvPr id="34" name="TextBox 33">
            <a:hlinkClick r:id="rId3"/>
          </p:cNvPr>
          <p:cNvSpPr txBox="1"/>
          <p:nvPr/>
        </p:nvSpPr>
        <p:spPr>
          <a:xfrm>
            <a:off x="1417320" y="3182112"/>
            <a:ext cx="54406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50" b="0" i="0">
                <a:solidFill>
                  <a:srgbClr val="003399"/>
                </a:solidFill>
                <a:latin typeface="Pretendard"/>
                <a:ea typeface="Pretendard"/>
                <a:cs typeface="Pretendard"/>
              </a:rPr>
              <a:t>Paste </a:t>
            </a:r>
            <a:r>
              <a:rPr sz="1250" b="1" i="0">
                <a:solidFill>
                  <a:srgbClr val="003399"/>
                </a:solidFill>
                <a:latin typeface="Pretendard"/>
                <a:ea typeface="Pretendard"/>
                <a:cs typeface="Pretendard"/>
              </a:rPr>
              <a:t>down_genes.txt</a:t>
            </a:r>
            <a:r>
              <a:rPr sz="1250" b="0" i="0">
                <a:solidFill>
                  <a:srgbClr val="003399"/>
                </a:solidFill>
                <a:latin typeface="Pretendard"/>
                <a:ea typeface="Pretendard"/>
                <a:cs typeface="Pretendard"/>
              </a:rPr>
              <a:t> into the query box</a:t>
            </a:r>
          </a:p>
        </p:txBody>
      </p:sp>
      <p:sp>
        <p:nvSpPr>
          <p:cNvPr id="35" name="Oval 34"/>
          <p:cNvSpPr/>
          <p:nvPr/>
        </p:nvSpPr>
        <p:spPr>
          <a:xfrm>
            <a:off x="896112" y="3858768"/>
            <a:ext cx="365760" cy="365760"/>
          </a:xfrm>
          <a:prstGeom prst="ellipse">
            <a:avLst/>
          </a:prstGeom>
          <a:solidFill>
            <a:srgbClr val="BF6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3803904"/>
            <a:ext cx="54406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5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Organism: Mus musculus</a:t>
            </a:r>
          </a:p>
        </p:txBody>
      </p:sp>
      <p:sp>
        <p:nvSpPr>
          <p:cNvPr id="37" name="Oval 36"/>
          <p:cNvSpPr/>
          <p:nvPr/>
        </p:nvSpPr>
        <p:spPr>
          <a:xfrm>
            <a:off x="896112" y="4480559"/>
            <a:ext cx="365760" cy="365760"/>
          </a:xfrm>
          <a:prstGeom prst="ellipse">
            <a:avLst/>
          </a:prstGeom>
          <a:solidFill>
            <a:srgbClr val="BF6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4</a:t>
            </a:r>
          </a:p>
        </p:txBody>
      </p:sp>
      <p:sp>
        <p:nvSpPr>
          <p:cNvPr id="38" name="TextBox 37">
            <a:hlinkClick r:id="rId4"/>
          </p:cNvPr>
          <p:cNvSpPr txBox="1"/>
          <p:nvPr/>
        </p:nvSpPr>
        <p:spPr>
          <a:xfrm>
            <a:off x="1417320" y="4425696"/>
            <a:ext cx="54406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50" b="0" i="0">
                <a:solidFill>
                  <a:srgbClr val="003399"/>
                </a:solidFill>
                <a:latin typeface="Pretendard"/>
                <a:ea typeface="Pretendard"/>
                <a:cs typeface="Pretendard"/>
              </a:rPr>
              <a:t>Advanced options → Statistical domain scope: Custom, paste </a:t>
            </a:r>
            <a:r>
              <a:rPr sz="1250" b="1" i="0">
                <a:solidFill>
                  <a:srgbClr val="003399"/>
                </a:solidFill>
                <a:latin typeface="Pretendard"/>
                <a:ea typeface="Pretendard"/>
                <a:cs typeface="Pretendard"/>
              </a:rPr>
              <a:t>background.txt</a:t>
            </a:r>
          </a:p>
        </p:txBody>
      </p:sp>
      <p:sp>
        <p:nvSpPr>
          <p:cNvPr id="39" name="Oval 38"/>
          <p:cNvSpPr/>
          <p:nvPr/>
        </p:nvSpPr>
        <p:spPr>
          <a:xfrm>
            <a:off x="896112" y="5102351"/>
            <a:ext cx="365760" cy="365760"/>
          </a:xfrm>
          <a:prstGeom prst="ellipse">
            <a:avLst/>
          </a:prstGeom>
          <a:solidFill>
            <a:srgbClr val="BF6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5047488"/>
            <a:ext cx="54406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5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Run query → check the Manhattan plot and Detailed results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178040" y="2103120"/>
            <a:ext cx="4114800" cy="301752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spcAft>
                <a:spcPts val="4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Colab notebook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78040" y="2542032"/>
            <a:ext cx="4114800" cy="1234440"/>
          </a:xfrm>
          <a:prstGeom prst="roundRect">
            <a:avLst>
              <a:gd name="adj" fmla="val 8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 bIns="91440" wrap="square"/>
          <a:lstStyle/>
          <a:p>
            <a:pPr algn="l">
              <a:spcAft>
                <a:spcPts val="400"/>
              </a:spcAft>
              <a:buNone/>
            </a:pPr>
            <a:r>
              <a:rPr sz="1200" b="1" i="0">
                <a:solidFill>
                  <a:srgbClr val="003399"/>
                </a:solidFill>
                <a:latin typeface="Pretendard SemiBold"/>
                <a:ea typeface="Pretendard SemiBold"/>
                <a:cs typeface="Pretendard SemiBold"/>
              </a:rPr>
              <a:t>Run section  </a:t>
            </a:r>
            <a:r>
              <a:rPr sz="1250" b="1" i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2. ORA</a:t>
            </a:r>
          </a:p>
          <a:p>
            <a:pPr algn="l">
              <a:spcAft>
                <a:spcPts val="400"/>
              </a:spcAft>
              <a:buNone/>
            </a:pPr>
            <a:r>
              <a:rPr sz="115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Same analysis on the same g:Profiler server, dot plot</a:t>
            </a:r>
          </a:p>
          <a:p>
            <a:pPr algn="l">
              <a:spcAft>
                <a:spcPts val="400"/>
              </a:spcAft>
              <a:buNone/>
            </a:pPr>
            <a:r>
              <a:rPr sz="1150" b="1" i="0">
                <a:solidFill>
                  <a:srgbClr val="1F2937"/>
                </a:solidFill>
                <a:latin typeface="Pretendard SemiBold"/>
                <a:ea typeface="Pretendard SemiBold"/>
                <a:cs typeface="Pretendard SemiBold"/>
                <a:hlinkClick r:id="rId5"/>
              </a:rPr>
              <a:t>Open in Colab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78040" y="3931920"/>
            <a:ext cx="4114800" cy="224028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91440" bIns="91440" wrap="square"/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Check</a:t>
            </a:r>
          </a:p>
          <a:p>
            <a:pPr algn="l" marL="155448" indent="-155448">
              <a:spcAft>
                <a:spcPts val="600"/>
              </a:spcAft>
              <a:buClr>
                <a:srgbClr val="1FA7E1"/>
              </a:buClr>
              <a:buFont typeface="Arial"/>
              <a:buChar char="•"/>
            </a:pPr>
            <a:r>
              <a:rPr sz="120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Fatty acid synthesis and pyruvate metabolism terms</a:t>
            </a:r>
          </a:p>
          <a:p>
            <a:pPr algn="l" marL="155448" indent="-155448">
              <a:spcAft>
                <a:spcPts val="600"/>
              </a:spcAft>
              <a:buClr>
                <a:srgbClr val="1FA7E1"/>
              </a:buClr>
              <a:buFont typeface="Arial"/>
              <a:buChar char="•"/>
            </a:pPr>
            <a:r>
              <a:rPr sz="120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Results with the up list (</a:t>
            </a:r>
            <a:r>
              <a:rPr sz="1200" b="1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up_genes.txt</a:t>
            </a:r>
            <a:r>
              <a:rPr sz="120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)</a:t>
            </a:r>
          </a:p>
          <a:p>
            <a:pPr algn="l" marL="155448" indent="-155448">
              <a:spcAft>
                <a:spcPts val="600"/>
              </a:spcAft>
              <a:buClr>
                <a:srgbClr val="1FA7E1"/>
              </a:buClr>
              <a:buFont typeface="Arial"/>
              <a:buChar char="•"/>
            </a:pPr>
            <a:r>
              <a:rPr sz="120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How results change with a different background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Part 04 · Hands-on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Step 3 · GSEA (WebGestalt)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Pathways concentrated at one end of the full ranking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29" name="슬라이드 번호 개체 틀 8">
            <a:extLst>
              <a:ext uri="{FF2B5EF4-FFF2-40B4-BE49-F238E27FC236}">
                <a16:creationId xmlns:a16="http://schemas.microsoft.com/office/drawing/2014/main" id="{D50649B0-8C95-ACB8-E146-F4DACBF93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9433" y="6435007"/>
            <a:ext cx="2743200" cy="365125"/>
          </a:xfrm>
        </p:spPr>
        <p:txBody>
          <a:bodyPr/>
          <a:lstStyle/>
          <a:p>
            <a:fld id="{8829373E-CD8E-4DEB-9966-45D0690BCFEE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30" name="Rounded Rectangle 29"/>
          <p:cNvSpPr/>
          <p:nvPr/>
        </p:nvSpPr>
        <p:spPr>
          <a:xfrm>
            <a:off x="896112" y="2103120"/>
            <a:ext cx="5989320" cy="301752"/>
          </a:xfrm>
          <a:prstGeom prst="roundRect">
            <a:avLst>
              <a:gd name="adj" fmla="val 50000"/>
            </a:avLst>
          </a:prstGeom>
          <a:solidFill>
            <a:srgbClr val="BF6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spcAft>
                <a:spcPts val="4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Web</a:t>
            </a:r>
          </a:p>
        </p:txBody>
      </p:sp>
      <p:sp>
        <p:nvSpPr>
          <p:cNvPr id="31" name="Oval 30"/>
          <p:cNvSpPr/>
          <p:nvPr/>
        </p:nvSpPr>
        <p:spPr>
          <a:xfrm>
            <a:off x="896112" y="2615184"/>
            <a:ext cx="365760" cy="365760"/>
          </a:xfrm>
          <a:prstGeom prst="ellipse">
            <a:avLst/>
          </a:prstGeom>
          <a:solidFill>
            <a:srgbClr val="BF6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</a:t>
            </a:r>
          </a:p>
        </p:txBody>
      </p:sp>
      <p:sp>
        <p:nvSpPr>
          <p:cNvPr id="32" name="TextBox 31">
            <a:hlinkClick r:id="rId2"/>
          </p:cNvPr>
          <p:cNvSpPr txBox="1"/>
          <p:nvPr/>
        </p:nvSpPr>
        <p:spPr>
          <a:xfrm>
            <a:off x="1417320" y="2560320"/>
            <a:ext cx="54406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50" b="0" i="0">
                <a:solidFill>
                  <a:srgbClr val="003399"/>
                </a:solidFill>
                <a:latin typeface="Pretendard"/>
                <a:ea typeface="Pretendard"/>
                <a:cs typeface="Pretendard"/>
              </a:rPr>
              <a:t>Open WebGestalt (webgestalt.org)</a:t>
            </a:r>
          </a:p>
        </p:txBody>
      </p:sp>
      <p:sp>
        <p:nvSpPr>
          <p:cNvPr id="33" name="Oval 32"/>
          <p:cNvSpPr/>
          <p:nvPr/>
        </p:nvSpPr>
        <p:spPr>
          <a:xfrm>
            <a:off x="896112" y="3236976"/>
            <a:ext cx="365760" cy="365760"/>
          </a:xfrm>
          <a:prstGeom prst="ellipse">
            <a:avLst/>
          </a:prstGeom>
          <a:solidFill>
            <a:srgbClr val="BF6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3182112"/>
            <a:ext cx="54406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5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Organism: Mus musculus, Method: GSEA</a:t>
            </a:r>
          </a:p>
        </p:txBody>
      </p:sp>
      <p:sp>
        <p:nvSpPr>
          <p:cNvPr id="35" name="Oval 34"/>
          <p:cNvSpPr/>
          <p:nvPr/>
        </p:nvSpPr>
        <p:spPr>
          <a:xfrm>
            <a:off x="896112" y="3858768"/>
            <a:ext cx="365760" cy="365760"/>
          </a:xfrm>
          <a:prstGeom prst="ellipse">
            <a:avLst/>
          </a:prstGeom>
          <a:solidFill>
            <a:srgbClr val="BF6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3803904"/>
            <a:ext cx="54406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5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Functional database: geneontology → Biological Process</a:t>
            </a:r>
          </a:p>
        </p:txBody>
      </p:sp>
      <p:sp>
        <p:nvSpPr>
          <p:cNvPr id="37" name="Oval 36"/>
          <p:cNvSpPr/>
          <p:nvPr/>
        </p:nvSpPr>
        <p:spPr>
          <a:xfrm>
            <a:off x="896112" y="4480559"/>
            <a:ext cx="365760" cy="365760"/>
          </a:xfrm>
          <a:prstGeom prst="ellipse">
            <a:avLst/>
          </a:prstGeom>
          <a:solidFill>
            <a:srgbClr val="BF6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4</a:t>
            </a:r>
          </a:p>
        </p:txBody>
      </p:sp>
      <p:sp>
        <p:nvSpPr>
          <p:cNvPr id="38" name="TextBox 37">
            <a:hlinkClick r:id="rId3"/>
          </p:cNvPr>
          <p:cNvSpPr txBox="1"/>
          <p:nvPr/>
        </p:nvSpPr>
        <p:spPr>
          <a:xfrm>
            <a:off x="1417320" y="4425696"/>
            <a:ext cx="54406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50" b="0" i="0">
                <a:solidFill>
                  <a:srgbClr val="003399"/>
                </a:solidFill>
                <a:latin typeface="Pretendard"/>
                <a:ea typeface="Pretendard"/>
                <a:cs typeface="Pretendard"/>
              </a:rPr>
              <a:t>Gene ID type: Gene symbol; upload </a:t>
            </a:r>
            <a:r>
              <a:rPr sz="1250" b="1" i="0">
                <a:solidFill>
                  <a:srgbClr val="003399"/>
                </a:solidFill>
                <a:latin typeface="Pretendard"/>
                <a:ea typeface="Pretendard"/>
                <a:cs typeface="Pretendard"/>
              </a:rPr>
              <a:t>ranked_list.rnk</a:t>
            </a:r>
            <a:r>
              <a:rPr sz="1250" b="0" i="0">
                <a:solidFill>
                  <a:srgbClr val="003399"/>
                </a:solidFill>
                <a:latin typeface="Pretendard"/>
                <a:ea typeface="Pretendard"/>
                <a:cs typeface="Pretendard"/>
              </a:rPr>
              <a:t> (two columns: gene, score)</a:t>
            </a:r>
          </a:p>
        </p:txBody>
      </p:sp>
      <p:sp>
        <p:nvSpPr>
          <p:cNvPr id="39" name="Oval 38"/>
          <p:cNvSpPr/>
          <p:nvPr/>
        </p:nvSpPr>
        <p:spPr>
          <a:xfrm>
            <a:off x="896112" y="5102351"/>
            <a:ext cx="365760" cy="365760"/>
          </a:xfrm>
          <a:prstGeom prst="ellipse">
            <a:avLst/>
          </a:prstGeom>
          <a:solidFill>
            <a:srgbClr val="BF6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5047488"/>
            <a:ext cx="54406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5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Advanced parameters → gene set size min 100, max 500 (as in the paper)</a:t>
            </a:r>
          </a:p>
        </p:txBody>
      </p:sp>
      <p:sp>
        <p:nvSpPr>
          <p:cNvPr id="41" name="Oval 40"/>
          <p:cNvSpPr/>
          <p:nvPr/>
        </p:nvSpPr>
        <p:spPr>
          <a:xfrm>
            <a:off x="896112" y="5724143"/>
            <a:ext cx="365760" cy="365760"/>
          </a:xfrm>
          <a:prstGeom prst="ellipse">
            <a:avLst/>
          </a:prstGeom>
          <a:solidFill>
            <a:srgbClr val="BF6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17320" y="5669279"/>
            <a:ext cx="54406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5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Submit → check the NES bar chart and top terms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78040" y="2103120"/>
            <a:ext cx="4114800" cy="301752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spcAft>
                <a:spcPts val="4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Colab notebook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178040" y="2542032"/>
            <a:ext cx="4114800" cy="1234440"/>
          </a:xfrm>
          <a:prstGeom prst="roundRect">
            <a:avLst>
              <a:gd name="adj" fmla="val 8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 bIns="91440" wrap="square"/>
          <a:lstStyle/>
          <a:p>
            <a:pPr algn="l">
              <a:spcAft>
                <a:spcPts val="400"/>
              </a:spcAft>
              <a:buNone/>
            </a:pPr>
            <a:r>
              <a:rPr sz="1200" b="1" i="0">
                <a:solidFill>
                  <a:srgbClr val="003399"/>
                </a:solidFill>
                <a:latin typeface="Pretendard SemiBold"/>
                <a:ea typeface="Pretendard SemiBold"/>
                <a:cs typeface="Pretendard SemiBold"/>
              </a:rPr>
              <a:t>Run section  </a:t>
            </a:r>
            <a:r>
              <a:rPr sz="1250" b="1" i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3. GSEA</a:t>
            </a:r>
          </a:p>
          <a:p>
            <a:pPr algn="l">
              <a:spcAft>
                <a:spcPts val="400"/>
              </a:spcAft>
              <a:buNone/>
            </a:pPr>
            <a:r>
              <a:rPr sz="115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gseapy prerank with the same score (limma t) and GO-BP; running ES plot</a:t>
            </a:r>
          </a:p>
          <a:p>
            <a:pPr algn="l">
              <a:spcAft>
                <a:spcPts val="400"/>
              </a:spcAft>
              <a:buNone/>
            </a:pPr>
            <a:r>
              <a:rPr sz="1150" b="1" i="0">
                <a:solidFill>
                  <a:srgbClr val="1F2937"/>
                </a:solidFill>
                <a:latin typeface="Pretendard SemiBold"/>
                <a:ea typeface="Pretendard SemiBold"/>
                <a:cs typeface="Pretendard SemiBold"/>
                <a:hlinkClick r:id="rId4"/>
              </a:rPr>
              <a:t>Open in Colab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178040" y="3931920"/>
            <a:ext cx="4114800" cy="224028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91440" bIns="91440" wrap="square"/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Check</a:t>
            </a:r>
          </a:p>
          <a:p>
            <a:pPr algn="l" marL="155448" indent="-155448">
              <a:spcAft>
                <a:spcPts val="600"/>
              </a:spcAft>
              <a:buClr>
                <a:srgbClr val="1FA7E1"/>
              </a:buClr>
              <a:buFont typeface="Arial"/>
              <a:buChar char="•"/>
            </a:pPr>
            <a:r>
              <a:rPr sz="120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NES &gt; 0 (HFD↑): small molecule · lipid catabolic process</a:t>
            </a:r>
          </a:p>
          <a:p>
            <a:pPr algn="l" marL="155448" indent="-155448">
              <a:spcAft>
                <a:spcPts val="600"/>
              </a:spcAft>
              <a:buClr>
                <a:srgbClr val="1FA7E1"/>
              </a:buClr>
              <a:buFont typeface="Arial"/>
              <a:buChar char="•"/>
            </a:pPr>
            <a:r>
              <a:rPr sz="120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NES &lt; 0 (HSD↑): lipid biosynthetic · carbohydrate metabolic process</a:t>
            </a:r>
          </a:p>
          <a:p>
            <a:pPr algn="l" marL="155448" indent="-155448">
              <a:spcAft>
                <a:spcPts val="600"/>
              </a:spcAft>
              <a:buClr>
                <a:srgbClr val="1FA7E1"/>
              </a:buClr>
              <a:buFont typeface="Arial"/>
              <a:buChar char="•"/>
            </a:pPr>
            <a:r>
              <a:rPr sz="120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Whether the weak up side in ORA shows up in GSEA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Part 04 · Hands-on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Step 4 · Network (STRING)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Interactions and hubs among down-regulated proteins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29" name="슬라이드 번호 개체 틀 8">
            <a:extLst>
              <a:ext uri="{FF2B5EF4-FFF2-40B4-BE49-F238E27FC236}">
                <a16:creationId xmlns:a16="http://schemas.microsoft.com/office/drawing/2014/main" id="{D50649B0-8C95-ACB8-E146-F4DACBF93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9433" y="6435007"/>
            <a:ext cx="2743200" cy="365125"/>
          </a:xfrm>
        </p:spPr>
        <p:txBody>
          <a:bodyPr/>
          <a:lstStyle/>
          <a:p>
            <a:fld id="{8829373E-CD8E-4DEB-9966-45D0690BCFEE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30" name="Rounded Rectangle 29"/>
          <p:cNvSpPr/>
          <p:nvPr/>
        </p:nvSpPr>
        <p:spPr>
          <a:xfrm>
            <a:off x="896112" y="2103120"/>
            <a:ext cx="5989320" cy="301752"/>
          </a:xfrm>
          <a:prstGeom prst="roundRect">
            <a:avLst>
              <a:gd name="adj" fmla="val 50000"/>
            </a:avLst>
          </a:prstGeom>
          <a:solidFill>
            <a:srgbClr val="BF6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spcAft>
                <a:spcPts val="4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Web</a:t>
            </a:r>
          </a:p>
        </p:txBody>
      </p:sp>
      <p:sp>
        <p:nvSpPr>
          <p:cNvPr id="31" name="Oval 30"/>
          <p:cNvSpPr/>
          <p:nvPr/>
        </p:nvSpPr>
        <p:spPr>
          <a:xfrm>
            <a:off x="896112" y="2615184"/>
            <a:ext cx="365760" cy="365760"/>
          </a:xfrm>
          <a:prstGeom prst="ellipse">
            <a:avLst/>
          </a:prstGeom>
          <a:solidFill>
            <a:srgbClr val="BF6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</a:t>
            </a:r>
          </a:p>
        </p:txBody>
      </p:sp>
      <p:sp>
        <p:nvSpPr>
          <p:cNvPr id="32" name="TextBox 31">
            <a:hlinkClick r:id="rId2"/>
          </p:cNvPr>
          <p:cNvSpPr txBox="1"/>
          <p:nvPr/>
        </p:nvSpPr>
        <p:spPr>
          <a:xfrm>
            <a:off x="1417320" y="2560320"/>
            <a:ext cx="54406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50" b="0" i="0">
                <a:solidFill>
                  <a:srgbClr val="003399"/>
                </a:solidFill>
                <a:latin typeface="Pretendard"/>
                <a:ea typeface="Pretendard"/>
                <a:cs typeface="Pretendard"/>
              </a:rPr>
              <a:t>Open STRING (string-db.org) → Multiple proteins</a:t>
            </a:r>
          </a:p>
        </p:txBody>
      </p:sp>
      <p:sp>
        <p:nvSpPr>
          <p:cNvPr id="33" name="Oval 32"/>
          <p:cNvSpPr/>
          <p:nvPr/>
        </p:nvSpPr>
        <p:spPr>
          <a:xfrm>
            <a:off x="896112" y="3236976"/>
            <a:ext cx="365760" cy="365760"/>
          </a:xfrm>
          <a:prstGeom prst="ellipse">
            <a:avLst/>
          </a:prstGeom>
          <a:solidFill>
            <a:srgbClr val="BF6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2</a:t>
            </a:r>
          </a:p>
        </p:txBody>
      </p:sp>
      <p:sp>
        <p:nvSpPr>
          <p:cNvPr id="34" name="TextBox 33">
            <a:hlinkClick r:id="rId3"/>
          </p:cNvPr>
          <p:cNvSpPr txBox="1"/>
          <p:nvPr/>
        </p:nvSpPr>
        <p:spPr>
          <a:xfrm>
            <a:off x="1417320" y="3182112"/>
            <a:ext cx="54406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50" b="0" i="0">
                <a:solidFill>
                  <a:srgbClr val="003399"/>
                </a:solidFill>
                <a:latin typeface="Pretendard"/>
                <a:ea typeface="Pretendard"/>
                <a:cs typeface="Pretendard"/>
              </a:rPr>
              <a:t>Paste </a:t>
            </a:r>
            <a:r>
              <a:rPr sz="1250" b="1" i="0">
                <a:solidFill>
                  <a:srgbClr val="003399"/>
                </a:solidFill>
                <a:latin typeface="Pretendard"/>
                <a:ea typeface="Pretendard"/>
                <a:cs typeface="Pretendard"/>
              </a:rPr>
              <a:t>down_genes.txt</a:t>
            </a:r>
            <a:r>
              <a:rPr sz="1250" b="0" i="0">
                <a:solidFill>
                  <a:srgbClr val="003399"/>
                </a:solidFill>
                <a:latin typeface="Pretendard"/>
                <a:ea typeface="Pretendard"/>
                <a:cs typeface="Pretendard"/>
              </a:rPr>
              <a:t>, Organism: Mus musculus</a:t>
            </a:r>
          </a:p>
        </p:txBody>
      </p:sp>
      <p:sp>
        <p:nvSpPr>
          <p:cNvPr id="35" name="Oval 34"/>
          <p:cNvSpPr/>
          <p:nvPr/>
        </p:nvSpPr>
        <p:spPr>
          <a:xfrm>
            <a:off x="896112" y="3858768"/>
            <a:ext cx="365760" cy="365760"/>
          </a:xfrm>
          <a:prstGeom prst="ellipse">
            <a:avLst/>
          </a:prstGeom>
          <a:solidFill>
            <a:srgbClr val="BF6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3803904"/>
            <a:ext cx="54406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5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Settings → minimum interaction score: high (0.700) → Update</a:t>
            </a:r>
          </a:p>
        </p:txBody>
      </p:sp>
      <p:sp>
        <p:nvSpPr>
          <p:cNvPr id="37" name="Oval 36"/>
          <p:cNvSpPr/>
          <p:nvPr/>
        </p:nvSpPr>
        <p:spPr>
          <a:xfrm>
            <a:off x="896112" y="4480559"/>
            <a:ext cx="365760" cy="365760"/>
          </a:xfrm>
          <a:prstGeom prst="ellipse">
            <a:avLst/>
          </a:prstGeom>
          <a:solidFill>
            <a:srgbClr val="BF6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7320" y="4425696"/>
            <a:ext cx="54406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5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Clusters tab → MCL clustering for modules</a:t>
            </a:r>
          </a:p>
        </p:txBody>
      </p:sp>
      <p:sp>
        <p:nvSpPr>
          <p:cNvPr id="39" name="Oval 38"/>
          <p:cNvSpPr/>
          <p:nvPr/>
        </p:nvSpPr>
        <p:spPr>
          <a:xfrm>
            <a:off x="896112" y="5102351"/>
            <a:ext cx="365760" cy="365760"/>
          </a:xfrm>
          <a:prstGeom prst="ellipse">
            <a:avLst/>
          </a:prstGeom>
          <a:solidFill>
            <a:srgbClr val="BF6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5047488"/>
            <a:ext cx="54406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5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Analysis tab → functional enrichment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178040" y="2103120"/>
            <a:ext cx="4114800" cy="301752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spcAft>
                <a:spcPts val="4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Colab notebook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78040" y="2542032"/>
            <a:ext cx="4114800" cy="1234440"/>
          </a:xfrm>
          <a:prstGeom prst="roundRect">
            <a:avLst>
              <a:gd name="adj" fmla="val 8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 bIns="91440" wrap="square"/>
          <a:lstStyle/>
          <a:p>
            <a:pPr algn="l">
              <a:spcAft>
                <a:spcPts val="400"/>
              </a:spcAft>
              <a:buNone/>
            </a:pPr>
            <a:r>
              <a:rPr sz="1200" b="1" i="0">
                <a:solidFill>
                  <a:srgbClr val="003399"/>
                </a:solidFill>
                <a:latin typeface="Pretendard SemiBold"/>
                <a:ea typeface="Pretendard SemiBold"/>
                <a:cs typeface="Pretendard SemiBold"/>
              </a:rPr>
              <a:t>Run section  </a:t>
            </a:r>
            <a:r>
              <a:rPr sz="1250" b="1" i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4. STRING network</a:t>
            </a:r>
          </a:p>
          <a:p>
            <a:pPr algn="l">
              <a:spcAft>
                <a:spcPts val="400"/>
              </a:spcAft>
              <a:buNone/>
            </a:pPr>
            <a:r>
              <a:rPr sz="115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Network via STRING API, hubs by degree</a:t>
            </a:r>
          </a:p>
          <a:p>
            <a:pPr algn="l">
              <a:spcAft>
                <a:spcPts val="400"/>
              </a:spcAft>
              <a:buNone/>
            </a:pPr>
            <a:r>
              <a:rPr sz="1150" b="1" i="0">
                <a:solidFill>
                  <a:srgbClr val="1F2937"/>
                </a:solidFill>
                <a:latin typeface="Pretendard SemiBold"/>
                <a:ea typeface="Pretendard SemiBold"/>
                <a:cs typeface="Pretendard SemiBold"/>
                <a:hlinkClick r:id="rId4"/>
              </a:rPr>
              <a:t>Open in Colab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78040" y="3931920"/>
            <a:ext cx="4114800" cy="224028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91440" bIns="91440" wrap="square"/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rgbClr val="0B1F3A"/>
                </a:solidFill>
                <a:latin typeface="Pretendard SemiBold"/>
                <a:ea typeface="Pretendard SemiBold"/>
                <a:cs typeface="Pretendard SemiBold"/>
              </a:rPr>
              <a:t>Check</a:t>
            </a:r>
          </a:p>
          <a:p>
            <a:pPr algn="l" marL="155448" indent="-155448">
              <a:spcAft>
                <a:spcPts val="600"/>
              </a:spcAft>
              <a:buClr>
                <a:srgbClr val="1FA7E1"/>
              </a:buClr>
              <a:buFont typeface="Arial"/>
              <a:buChar char="•"/>
            </a:pPr>
            <a:r>
              <a:rPr sz="120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Whether Acaca, Acly, Fasn, Scd1 form one module</a:t>
            </a:r>
          </a:p>
          <a:p>
            <a:pPr algn="l" marL="155448" indent="-155448">
              <a:spcAft>
                <a:spcPts val="600"/>
              </a:spcAft>
              <a:buClr>
                <a:srgbClr val="1FA7E1"/>
              </a:buClr>
              <a:buFont typeface="Arial"/>
              <a:buChar char="•"/>
            </a:pPr>
            <a:r>
              <a:rPr sz="120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Whether modules agree with ORA and GSEA</a:t>
            </a:r>
          </a:p>
          <a:p>
            <a:pPr algn="l" marL="155448" indent="-155448">
              <a:spcAft>
                <a:spcPts val="600"/>
              </a:spcAft>
              <a:buClr>
                <a:srgbClr val="1FA7E1"/>
              </a:buClr>
              <a:buFont typeface="Arial"/>
              <a:buChar char="•"/>
            </a:pPr>
            <a:r>
              <a:rPr sz="1200" b="0" i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How the network changes with the score cutoff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act_label"/>
          <p:cNvSpPr txBox="1"/>
          <p:nvPr/>
        </p:nvSpPr>
        <p:spPr>
          <a:xfrm>
            <a:off x="896112" y="4160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1" i="0">
                <a:solidFill>
                  <a:srgbClr val="1FA7E1"/>
                </a:solidFill>
                <a:latin typeface="Pretendard SemiBold"/>
                <a:ea typeface="Pretendard SemiBold"/>
                <a:cs typeface="Pretendard SemiBold"/>
              </a:rPr>
              <a:t>Contact</a:t>
            </a:r>
          </a:p>
        </p:txBody>
      </p:sp>
      <p:sp>
        <p:nvSpPr>
          <p:cNvPr id="3" name="contact_name"/>
          <p:cNvSpPr txBox="1"/>
          <p:nvPr/>
        </p:nvSpPr>
        <p:spPr>
          <a:xfrm>
            <a:off x="896112" y="443484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000" b="1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Seongjun Park</a:t>
            </a:r>
          </a:p>
        </p:txBody>
      </p:sp>
      <p:sp>
        <p:nvSpPr>
          <p:cNvPr id="4" name="contact_info"/>
          <p:cNvSpPr txBox="1"/>
          <p:nvPr/>
        </p:nvSpPr>
        <p:spPr>
          <a:xfrm>
            <a:off x="896112" y="4864608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B2CBE5"/>
                </a:solidFill>
                <a:latin typeface="Pretendard"/>
                <a:ea typeface="Pretendard"/>
                <a:cs typeface="Pretendard"/>
              </a:rPr>
              <a:t>Head of PASS Center, Bertis</a:t>
            </a:r>
          </a:p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B2CBE5"/>
                </a:solidFill>
                <a:latin typeface="Pretendard"/>
                <a:ea typeface="Pretendard"/>
                <a:cs typeface="Pretendard"/>
              </a:rPr>
              <a:t>seongjun.park@bertis.com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테마_bertis">
  <a:themeElements>
    <a:clrScheme name="사용자 지정 2">
      <a:dk1>
        <a:srgbClr val="1F2937"/>
      </a:dk1>
      <a:lt1>
        <a:srgbClr val="FFFFFF"/>
      </a:lt1>
      <a:dk2>
        <a:srgbClr val="003399"/>
      </a:dk2>
      <a:lt2>
        <a:srgbClr val="FFFFFF"/>
      </a:lt2>
      <a:accent1>
        <a:srgbClr val="003399"/>
      </a:accent1>
      <a:accent2>
        <a:srgbClr val="2D64D2"/>
      </a:accent2>
      <a:accent3>
        <a:srgbClr val="7DCFB6"/>
      </a:accent3>
      <a:accent4>
        <a:srgbClr val="0B1F3A"/>
      </a:accent4>
      <a:accent5>
        <a:srgbClr val="BF6A8B"/>
      </a:accent5>
      <a:accent6>
        <a:srgbClr val="6B7280"/>
      </a:accent6>
      <a:hlink>
        <a:srgbClr val="1F2937"/>
      </a:hlink>
      <a:folHlink>
        <a:srgbClr val="A389D4"/>
      </a:folHlink>
    </a:clrScheme>
    <a:fontScheme name="BERTI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BERT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1600" b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marL="285750" indent="-285750" algn="l">
          <a:buClr>
            <a:schemeClr val="accent3"/>
          </a:buClr>
          <a:buFont typeface="Wingdings" panose="05000000000000000000" pitchFamily="2" charset="2"/>
          <a:buChar char="§"/>
          <a:defRPr sz="14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테마_bertis" id="{D2D61D50-C70E-4BF6-B531-0217F51616ED}" vid="{DC8E5782-D8FB-47FF-AFE1-F44D50BD4FF7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F7A2C6B-DE34-4D31-8B7F-004195E8B332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8250ec62-bc4a-4dc0-acb2-24d9d738009a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6B26BFC184BB034FA09E74515D147B56" ma:contentTypeVersion="18" ma:contentTypeDescription="새 문서를 만듭니다." ma:contentTypeScope="" ma:versionID="dcd50e552b8117f1d49e3486b8602fd9">
  <xsd:schema xmlns:xsd="http://www.w3.org/2001/XMLSchema" xmlns:xs="http://www.w3.org/2001/XMLSchema" xmlns:p="http://schemas.microsoft.com/office/2006/metadata/properties" xmlns:ns2="9cb798ea-60e7-40a0-a7a8-c5ceaa7b58d2" xmlns:ns3="111fc768-e288-4c43-adb3-33a97fa7b4a2" targetNamespace="http://schemas.microsoft.com/office/2006/metadata/properties" ma:root="true" ma:fieldsID="b533422821da8d858a5ad824e8bd1af6" ns2:_="" ns3:_="">
    <xsd:import namespace="9cb798ea-60e7-40a0-a7a8-c5ceaa7b58d2"/>
    <xsd:import namespace="111fc768-e288-4c43-adb3-33a97fa7b4a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b798ea-60e7-40a0-a7a8-c5ceaa7b58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3" nillable="true" ma:taxonomy="true" ma:internalName="lcf76f155ced4ddcb4097134ff3c332f" ma:taxonomyFieldName="MediaServiceImageTags" ma:displayName="이미지 태그" ma:readOnly="false" ma:fieldId="{5cf76f15-5ced-4ddc-b409-7134ff3c332f}" ma:taxonomyMulti="true" ma:sspId="d31bb24b-3b5f-4ea7-9579-7352f8bdf1a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1fc768-e288-4c43-adb3-33a97fa7b4a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157b0bd-577a-4f70-a16f-31a3e311c180}" ma:internalName="TaxCatchAll" ma:showField="CatchAllData" ma:web="111fc768-e288-4c43-adb3-33a97fa7b4a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11fc768-e288-4c43-adb3-33a97fa7b4a2" xsi:nil="true"/>
    <lcf76f155ced4ddcb4097134ff3c332f xmlns="9cb798ea-60e7-40a0-a7a8-c5ceaa7b58d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BDB692D-8830-4902-AD88-F5F7B065C9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b798ea-60e7-40a0-a7a8-c5ceaa7b58d2"/>
    <ds:schemaRef ds:uri="111fc768-e288-4c43-adb3-33a97fa7b4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8B9F840-2BF5-4E23-8A15-04ABCC40258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F80D55D-A136-4CB9-B45A-37257E389ABD}">
  <ds:schemaRefs>
    <ds:schemaRef ds:uri="111fc768-e288-4c43-adb3-33a97fa7b4a2"/>
    <ds:schemaRef ds:uri="http://purl.org/dc/dcmitype/"/>
    <ds:schemaRef ds:uri="http://purl.org/dc/elements/1.1/"/>
    <ds:schemaRef ds:uri="http://schemas.microsoft.com/office/2006/metadata/properties"/>
    <ds:schemaRef ds:uri="9cb798ea-60e7-40a0-a7a8-c5ceaa7b58d2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546</TotalTime>
  <Words>1437</Words>
  <Application>Microsoft Macintosh PowerPoint</Application>
  <PresentationFormat>Widescreen</PresentationFormat>
  <Paragraphs>151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fkGroteskNeue</vt:lpstr>
      <vt:lpstr>맑은 고딕</vt:lpstr>
      <vt:lpstr>Pretendard</vt:lpstr>
      <vt:lpstr>Pretendard Light</vt:lpstr>
      <vt:lpstr>Pretendard SemiBold</vt:lpstr>
      <vt:lpstr>Arial</vt:lpstr>
      <vt:lpstr>Calibri</vt:lpstr>
      <vt:lpstr>Calibri</vt:lpstr>
      <vt:lpstr>Calibri Light</vt:lpstr>
      <vt:lpstr>Wingdings</vt:lpstr>
      <vt:lpstr>테마_bertis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Taeyoon Oh</dc:creator>
  <cp:lastModifiedBy>최형욱</cp:lastModifiedBy>
  <cp:revision>9</cp:revision>
  <cp:lastPrinted>2025-12-02T07:59:36Z</cp:lastPrinted>
  <dcterms:created xsi:type="dcterms:W3CDTF">2025-08-25T05:00:36Z</dcterms:created>
  <dcterms:modified xsi:type="dcterms:W3CDTF">2026-10-22T06:26:37Z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0x0101006B26BFC184BB034FA09E74515D147B56</vt:lpwstr>
  </property>
  <property fmtid="{D5CDD505-2E9C-101B-9397-08002B2CF9AE}" pid="3" name="MediaServiceImageTags">
    <vt:lpwstr/>
  </property>
</Properties>
</file>